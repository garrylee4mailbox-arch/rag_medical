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96"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AEC32E-C9BB-AD4B-9FDC-2F838E4A049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E206FF3-1C86-175A-79B1-9D55A74819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EB842CD-AC3D-8142-F10C-4DF4A77E178F}"/>
              </a:ext>
            </a:extLst>
          </p:cNvPr>
          <p:cNvSpPr>
            <a:spLocks noGrp="1"/>
          </p:cNvSpPr>
          <p:nvPr>
            <p:ph type="dt" sz="half" idx="10"/>
          </p:nvPr>
        </p:nvSpPr>
        <p:spPr/>
        <p:txBody>
          <a:bodyPr/>
          <a:lstStyle/>
          <a:p>
            <a:fld id="{2C2DF472-F8DC-41D6-AEA6-415A6B959B3E}" type="datetimeFigureOut">
              <a:rPr lang="zh-CN" altLang="en-US" smtClean="0"/>
              <a:t>2025/11/3</a:t>
            </a:fld>
            <a:endParaRPr lang="zh-CN" altLang="en-US"/>
          </a:p>
        </p:txBody>
      </p:sp>
      <p:sp>
        <p:nvSpPr>
          <p:cNvPr id="5" name="页脚占位符 4">
            <a:extLst>
              <a:ext uri="{FF2B5EF4-FFF2-40B4-BE49-F238E27FC236}">
                <a16:creationId xmlns:a16="http://schemas.microsoft.com/office/drawing/2014/main" id="{6D927E22-F65E-8EDD-87F5-4B421F8C62F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556B88B-2B1D-40FF-F999-B636ECAB302F}"/>
              </a:ext>
            </a:extLst>
          </p:cNvPr>
          <p:cNvSpPr>
            <a:spLocks noGrp="1"/>
          </p:cNvSpPr>
          <p:nvPr>
            <p:ph type="sldNum" sz="quarter" idx="12"/>
          </p:nvPr>
        </p:nvSpPr>
        <p:spPr/>
        <p:txBody>
          <a:bodyPr/>
          <a:lstStyle/>
          <a:p>
            <a:fld id="{A5AF7B27-E13C-46B3-9CC0-B9B04027F01E}" type="slidenum">
              <a:rPr lang="zh-CN" altLang="en-US" smtClean="0"/>
              <a:t>‹#›</a:t>
            </a:fld>
            <a:endParaRPr lang="zh-CN" altLang="en-US"/>
          </a:p>
        </p:txBody>
      </p:sp>
    </p:spTree>
    <p:extLst>
      <p:ext uri="{BB962C8B-B14F-4D97-AF65-F5344CB8AC3E}">
        <p14:creationId xmlns:p14="http://schemas.microsoft.com/office/powerpoint/2010/main" val="842023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7102A8-B5A6-BE68-20CB-914FEF42725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DB1F0A5-E949-24B6-1A3E-B2E5682491D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E3000EE-4DD8-57AF-6C8E-DBB10DBD2D07}"/>
              </a:ext>
            </a:extLst>
          </p:cNvPr>
          <p:cNvSpPr>
            <a:spLocks noGrp="1"/>
          </p:cNvSpPr>
          <p:nvPr>
            <p:ph type="dt" sz="half" idx="10"/>
          </p:nvPr>
        </p:nvSpPr>
        <p:spPr/>
        <p:txBody>
          <a:bodyPr/>
          <a:lstStyle/>
          <a:p>
            <a:fld id="{2C2DF472-F8DC-41D6-AEA6-415A6B959B3E}" type="datetimeFigureOut">
              <a:rPr lang="zh-CN" altLang="en-US" smtClean="0"/>
              <a:t>2025/11/3</a:t>
            </a:fld>
            <a:endParaRPr lang="zh-CN" altLang="en-US"/>
          </a:p>
        </p:txBody>
      </p:sp>
      <p:sp>
        <p:nvSpPr>
          <p:cNvPr id="5" name="页脚占位符 4">
            <a:extLst>
              <a:ext uri="{FF2B5EF4-FFF2-40B4-BE49-F238E27FC236}">
                <a16:creationId xmlns:a16="http://schemas.microsoft.com/office/drawing/2014/main" id="{F7B9EB23-6EEC-CC32-E9D6-FB0CF31655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AE96285-B4CC-5764-ED21-0195CADF6CEF}"/>
              </a:ext>
            </a:extLst>
          </p:cNvPr>
          <p:cNvSpPr>
            <a:spLocks noGrp="1"/>
          </p:cNvSpPr>
          <p:nvPr>
            <p:ph type="sldNum" sz="quarter" idx="12"/>
          </p:nvPr>
        </p:nvSpPr>
        <p:spPr/>
        <p:txBody>
          <a:bodyPr/>
          <a:lstStyle/>
          <a:p>
            <a:fld id="{A5AF7B27-E13C-46B3-9CC0-B9B04027F01E}" type="slidenum">
              <a:rPr lang="zh-CN" altLang="en-US" smtClean="0"/>
              <a:t>‹#›</a:t>
            </a:fld>
            <a:endParaRPr lang="zh-CN" altLang="en-US"/>
          </a:p>
        </p:txBody>
      </p:sp>
    </p:spTree>
    <p:extLst>
      <p:ext uri="{BB962C8B-B14F-4D97-AF65-F5344CB8AC3E}">
        <p14:creationId xmlns:p14="http://schemas.microsoft.com/office/powerpoint/2010/main" val="677975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880CD8-6D4C-6C03-87AE-62C63953C31E}"/>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4E62D20-F600-1894-772B-804F5E2D67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CE88B0D-7469-617E-E0BA-92E2E1C5183B}"/>
              </a:ext>
            </a:extLst>
          </p:cNvPr>
          <p:cNvSpPr>
            <a:spLocks noGrp="1"/>
          </p:cNvSpPr>
          <p:nvPr>
            <p:ph type="dt" sz="half" idx="10"/>
          </p:nvPr>
        </p:nvSpPr>
        <p:spPr/>
        <p:txBody>
          <a:bodyPr/>
          <a:lstStyle/>
          <a:p>
            <a:fld id="{2C2DF472-F8DC-41D6-AEA6-415A6B959B3E}" type="datetimeFigureOut">
              <a:rPr lang="zh-CN" altLang="en-US" smtClean="0"/>
              <a:t>2025/11/3</a:t>
            </a:fld>
            <a:endParaRPr lang="zh-CN" altLang="en-US"/>
          </a:p>
        </p:txBody>
      </p:sp>
      <p:sp>
        <p:nvSpPr>
          <p:cNvPr id="5" name="页脚占位符 4">
            <a:extLst>
              <a:ext uri="{FF2B5EF4-FFF2-40B4-BE49-F238E27FC236}">
                <a16:creationId xmlns:a16="http://schemas.microsoft.com/office/drawing/2014/main" id="{9F764C2F-0270-3B7C-CC68-D4855070327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0622B47-F45A-7655-6290-4DEF6C7160B4}"/>
              </a:ext>
            </a:extLst>
          </p:cNvPr>
          <p:cNvSpPr>
            <a:spLocks noGrp="1"/>
          </p:cNvSpPr>
          <p:nvPr>
            <p:ph type="sldNum" sz="quarter" idx="12"/>
          </p:nvPr>
        </p:nvSpPr>
        <p:spPr/>
        <p:txBody>
          <a:bodyPr/>
          <a:lstStyle/>
          <a:p>
            <a:fld id="{A5AF7B27-E13C-46B3-9CC0-B9B04027F01E}" type="slidenum">
              <a:rPr lang="zh-CN" altLang="en-US" smtClean="0"/>
              <a:t>‹#›</a:t>
            </a:fld>
            <a:endParaRPr lang="zh-CN" altLang="en-US"/>
          </a:p>
        </p:txBody>
      </p:sp>
    </p:spTree>
    <p:extLst>
      <p:ext uri="{BB962C8B-B14F-4D97-AF65-F5344CB8AC3E}">
        <p14:creationId xmlns:p14="http://schemas.microsoft.com/office/powerpoint/2010/main" val="1010930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192A50-55A7-7D81-D45A-F4B66A6E780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22D65A2-9343-BC64-FF59-9C6FBB733D7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E1BCC64-8B8D-5F3C-595C-E56D611B86A1}"/>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3187B0D-39F2-2F84-FCFB-360D18963B4D}"/>
              </a:ext>
            </a:extLst>
          </p:cNvPr>
          <p:cNvSpPr>
            <a:spLocks noGrp="1"/>
          </p:cNvSpPr>
          <p:nvPr>
            <p:ph type="dt" sz="half" idx="10"/>
          </p:nvPr>
        </p:nvSpPr>
        <p:spPr/>
        <p:txBody>
          <a:bodyPr/>
          <a:lstStyle/>
          <a:p>
            <a:fld id="{2C2DF472-F8DC-41D6-AEA6-415A6B959B3E}" type="datetimeFigureOut">
              <a:rPr lang="zh-CN" altLang="en-US" smtClean="0"/>
              <a:t>2025/11/3</a:t>
            </a:fld>
            <a:endParaRPr lang="zh-CN" altLang="en-US"/>
          </a:p>
        </p:txBody>
      </p:sp>
      <p:sp>
        <p:nvSpPr>
          <p:cNvPr id="6" name="页脚占位符 5">
            <a:extLst>
              <a:ext uri="{FF2B5EF4-FFF2-40B4-BE49-F238E27FC236}">
                <a16:creationId xmlns:a16="http://schemas.microsoft.com/office/drawing/2014/main" id="{8A2141CC-B47C-4D1C-F76F-6206E9C1F17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EE53883-A3CC-B3BC-1948-A6C74498F6D4}"/>
              </a:ext>
            </a:extLst>
          </p:cNvPr>
          <p:cNvSpPr>
            <a:spLocks noGrp="1"/>
          </p:cNvSpPr>
          <p:nvPr>
            <p:ph type="sldNum" sz="quarter" idx="12"/>
          </p:nvPr>
        </p:nvSpPr>
        <p:spPr/>
        <p:txBody>
          <a:bodyPr/>
          <a:lstStyle/>
          <a:p>
            <a:fld id="{A5AF7B27-E13C-46B3-9CC0-B9B04027F01E}" type="slidenum">
              <a:rPr lang="zh-CN" altLang="en-US" smtClean="0"/>
              <a:t>‹#›</a:t>
            </a:fld>
            <a:endParaRPr lang="zh-CN" altLang="en-US"/>
          </a:p>
        </p:txBody>
      </p:sp>
    </p:spTree>
    <p:extLst>
      <p:ext uri="{BB962C8B-B14F-4D97-AF65-F5344CB8AC3E}">
        <p14:creationId xmlns:p14="http://schemas.microsoft.com/office/powerpoint/2010/main" val="21522601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6AC80D-B5F6-E25E-DC7D-24ED20ADD04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3B1BEE3-C6CA-B5A3-5BDD-EFCAD16E59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BDE2C0E-058A-4B07-1275-1E7EB4F0BAF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4BEE052-1A7B-C9CA-4B60-8131FC6974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C49B6D3-0EA5-92ED-BA31-A3C23EF3F97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3E4F38C-A088-E7BE-E32E-95D753721085}"/>
              </a:ext>
            </a:extLst>
          </p:cNvPr>
          <p:cNvSpPr>
            <a:spLocks noGrp="1"/>
          </p:cNvSpPr>
          <p:nvPr>
            <p:ph type="dt" sz="half" idx="10"/>
          </p:nvPr>
        </p:nvSpPr>
        <p:spPr/>
        <p:txBody>
          <a:bodyPr/>
          <a:lstStyle/>
          <a:p>
            <a:fld id="{2C2DF472-F8DC-41D6-AEA6-415A6B959B3E}" type="datetimeFigureOut">
              <a:rPr lang="zh-CN" altLang="en-US" smtClean="0"/>
              <a:t>2025/11/3</a:t>
            </a:fld>
            <a:endParaRPr lang="zh-CN" altLang="en-US"/>
          </a:p>
        </p:txBody>
      </p:sp>
      <p:sp>
        <p:nvSpPr>
          <p:cNvPr id="8" name="页脚占位符 7">
            <a:extLst>
              <a:ext uri="{FF2B5EF4-FFF2-40B4-BE49-F238E27FC236}">
                <a16:creationId xmlns:a16="http://schemas.microsoft.com/office/drawing/2014/main" id="{ADEBEEA4-3B4D-B100-E0D5-F334F514AF0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DC7F89E-9C59-A15F-8E7F-F19F7AAC6500}"/>
              </a:ext>
            </a:extLst>
          </p:cNvPr>
          <p:cNvSpPr>
            <a:spLocks noGrp="1"/>
          </p:cNvSpPr>
          <p:nvPr>
            <p:ph type="sldNum" sz="quarter" idx="12"/>
          </p:nvPr>
        </p:nvSpPr>
        <p:spPr/>
        <p:txBody>
          <a:bodyPr/>
          <a:lstStyle/>
          <a:p>
            <a:fld id="{A5AF7B27-E13C-46B3-9CC0-B9B04027F01E}" type="slidenum">
              <a:rPr lang="zh-CN" altLang="en-US" smtClean="0"/>
              <a:t>‹#›</a:t>
            </a:fld>
            <a:endParaRPr lang="zh-CN" altLang="en-US"/>
          </a:p>
        </p:txBody>
      </p:sp>
    </p:spTree>
    <p:extLst>
      <p:ext uri="{BB962C8B-B14F-4D97-AF65-F5344CB8AC3E}">
        <p14:creationId xmlns:p14="http://schemas.microsoft.com/office/powerpoint/2010/main" val="723139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2E05F5-C3F0-EC7C-6791-784346166E7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18DF780-D2D9-FB0B-6DFD-3F6D16A6C245}"/>
              </a:ext>
            </a:extLst>
          </p:cNvPr>
          <p:cNvSpPr>
            <a:spLocks noGrp="1"/>
          </p:cNvSpPr>
          <p:nvPr>
            <p:ph type="dt" sz="half" idx="10"/>
          </p:nvPr>
        </p:nvSpPr>
        <p:spPr/>
        <p:txBody>
          <a:bodyPr/>
          <a:lstStyle/>
          <a:p>
            <a:fld id="{2C2DF472-F8DC-41D6-AEA6-415A6B959B3E}" type="datetimeFigureOut">
              <a:rPr lang="zh-CN" altLang="en-US" smtClean="0"/>
              <a:t>2025/11/3</a:t>
            </a:fld>
            <a:endParaRPr lang="zh-CN" altLang="en-US"/>
          </a:p>
        </p:txBody>
      </p:sp>
      <p:sp>
        <p:nvSpPr>
          <p:cNvPr id="4" name="页脚占位符 3">
            <a:extLst>
              <a:ext uri="{FF2B5EF4-FFF2-40B4-BE49-F238E27FC236}">
                <a16:creationId xmlns:a16="http://schemas.microsoft.com/office/drawing/2014/main" id="{B79CBEFE-23F3-D92A-C4C6-E76471E66237}"/>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F12FC25-194B-C828-266E-72FB21B469D4}"/>
              </a:ext>
            </a:extLst>
          </p:cNvPr>
          <p:cNvSpPr>
            <a:spLocks noGrp="1"/>
          </p:cNvSpPr>
          <p:nvPr>
            <p:ph type="sldNum" sz="quarter" idx="12"/>
          </p:nvPr>
        </p:nvSpPr>
        <p:spPr/>
        <p:txBody>
          <a:bodyPr/>
          <a:lstStyle/>
          <a:p>
            <a:fld id="{A5AF7B27-E13C-46B3-9CC0-B9B04027F01E}" type="slidenum">
              <a:rPr lang="zh-CN" altLang="en-US" smtClean="0"/>
              <a:t>‹#›</a:t>
            </a:fld>
            <a:endParaRPr lang="zh-CN" altLang="en-US"/>
          </a:p>
        </p:txBody>
      </p:sp>
    </p:spTree>
    <p:extLst>
      <p:ext uri="{BB962C8B-B14F-4D97-AF65-F5344CB8AC3E}">
        <p14:creationId xmlns:p14="http://schemas.microsoft.com/office/powerpoint/2010/main" val="856884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58F3C9E-99D3-F3AB-2465-001111B23274}"/>
              </a:ext>
            </a:extLst>
          </p:cNvPr>
          <p:cNvSpPr>
            <a:spLocks noGrp="1"/>
          </p:cNvSpPr>
          <p:nvPr>
            <p:ph type="dt" sz="half" idx="10"/>
          </p:nvPr>
        </p:nvSpPr>
        <p:spPr/>
        <p:txBody>
          <a:bodyPr/>
          <a:lstStyle/>
          <a:p>
            <a:fld id="{2C2DF472-F8DC-41D6-AEA6-415A6B959B3E}" type="datetimeFigureOut">
              <a:rPr lang="zh-CN" altLang="en-US" smtClean="0"/>
              <a:t>2025/11/3</a:t>
            </a:fld>
            <a:endParaRPr lang="zh-CN" altLang="en-US"/>
          </a:p>
        </p:txBody>
      </p:sp>
      <p:sp>
        <p:nvSpPr>
          <p:cNvPr id="3" name="页脚占位符 2">
            <a:extLst>
              <a:ext uri="{FF2B5EF4-FFF2-40B4-BE49-F238E27FC236}">
                <a16:creationId xmlns:a16="http://schemas.microsoft.com/office/drawing/2014/main" id="{8F1576B9-334B-47A4-62E1-BED114E729F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2B9129F-9E02-A18F-5107-71B48AA632DC}"/>
              </a:ext>
            </a:extLst>
          </p:cNvPr>
          <p:cNvSpPr>
            <a:spLocks noGrp="1"/>
          </p:cNvSpPr>
          <p:nvPr>
            <p:ph type="sldNum" sz="quarter" idx="12"/>
          </p:nvPr>
        </p:nvSpPr>
        <p:spPr/>
        <p:txBody>
          <a:bodyPr/>
          <a:lstStyle/>
          <a:p>
            <a:fld id="{A5AF7B27-E13C-46B3-9CC0-B9B04027F01E}" type="slidenum">
              <a:rPr lang="zh-CN" altLang="en-US" smtClean="0"/>
              <a:t>‹#›</a:t>
            </a:fld>
            <a:endParaRPr lang="zh-CN" altLang="en-US"/>
          </a:p>
        </p:txBody>
      </p:sp>
    </p:spTree>
    <p:extLst>
      <p:ext uri="{BB962C8B-B14F-4D97-AF65-F5344CB8AC3E}">
        <p14:creationId xmlns:p14="http://schemas.microsoft.com/office/powerpoint/2010/main" val="2710625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B5E891-82FE-F3F2-574E-604451FF4D2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63264D8-AADB-5F90-129A-9C50566523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26B4254-5B2C-7C10-D5BD-1C70A9A5B5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8AE153C-BE4F-8A75-4C3E-C8A436ACEC83}"/>
              </a:ext>
            </a:extLst>
          </p:cNvPr>
          <p:cNvSpPr>
            <a:spLocks noGrp="1"/>
          </p:cNvSpPr>
          <p:nvPr>
            <p:ph type="dt" sz="half" idx="10"/>
          </p:nvPr>
        </p:nvSpPr>
        <p:spPr/>
        <p:txBody>
          <a:bodyPr/>
          <a:lstStyle/>
          <a:p>
            <a:fld id="{2C2DF472-F8DC-41D6-AEA6-415A6B959B3E}" type="datetimeFigureOut">
              <a:rPr lang="zh-CN" altLang="en-US" smtClean="0"/>
              <a:t>2025/11/3</a:t>
            </a:fld>
            <a:endParaRPr lang="zh-CN" altLang="en-US"/>
          </a:p>
        </p:txBody>
      </p:sp>
      <p:sp>
        <p:nvSpPr>
          <p:cNvPr id="6" name="页脚占位符 5">
            <a:extLst>
              <a:ext uri="{FF2B5EF4-FFF2-40B4-BE49-F238E27FC236}">
                <a16:creationId xmlns:a16="http://schemas.microsoft.com/office/drawing/2014/main" id="{BFEFFE77-FA5C-A441-74BA-5608F6F6D6A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AEF925D-C82A-E061-03AB-814BEE489474}"/>
              </a:ext>
            </a:extLst>
          </p:cNvPr>
          <p:cNvSpPr>
            <a:spLocks noGrp="1"/>
          </p:cNvSpPr>
          <p:nvPr>
            <p:ph type="sldNum" sz="quarter" idx="12"/>
          </p:nvPr>
        </p:nvSpPr>
        <p:spPr/>
        <p:txBody>
          <a:bodyPr/>
          <a:lstStyle/>
          <a:p>
            <a:fld id="{A5AF7B27-E13C-46B3-9CC0-B9B04027F01E}" type="slidenum">
              <a:rPr lang="zh-CN" altLang="en-US" smtClean="0"/>
              <a:t>‹#›</a:t>
            </a:fld>
            <a:endParaRPr lang="zh-CN" altLang="en-US"/>
          </a:p>
        </p:txBody>
      </p:sp>
    </p:spTree>
    <p:extLst>
      <p:ext uri="{BB962C8B-B14F-4D97-AF65-F5344CB8AC3E}">
        <p14:creationId xmlns:p14="http://schemas.microsoft.com/office/powerpoint/2010/main" val="3259317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DBAFCA-4E45-7B8A-DA66-8A47602565C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9AB9CF99-CBBA-AD43-A7F3-8D9030B8B3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6076824B-ECA0-AEB4-7EAE-BA5709ADF8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36CBABD-7828-1B22-C251-16CC8DDBFB12}"/>
              </a:ext>
            </a:extLst>
          </p:cNvPr>
          <p:cNvSpPr>
            <a:spLocks noGrp="1"/>
          </p:cNvSpPr>
          <p:nvPr>
            <p:ph type="dt" sz="half" idx="10"/>
          </p:nvPr>
        </p:nvSpPr>
        <p:spPr/>
        <p:txBody>
          <a:bodyPr/>
          <a:lstStyle/>
          <a:p>
            <a:fld id="{2C2DF472-F8DC-41D6-AEA6-415A6B959B3E}" type="datetimeFigureOut">
              <a:rPr lang="zh-CN" altLang="en-US" smtClean="0"/>
              <a:t>2025/11/3</a:t>
            </a:fld>
            <a:endParaRPr lang="zh-CN" altLang="en-US"/>
          </a:p>
        </p:txBody>
      </p:sp>
      <p:sp>
        <p:nvSpPr>
          <p:cNvPr id="6" name="页脚占位符 5">
            <a:extLst>
              <a:ext uri="{FF2B5EF4-FFF2-40B4-BE49-F238E27FC236}">
                <a16:creationId xmlns:a16="http://schemas.microsoft.com/office/drawing/2014/main" id="{D630C275-A9E3-6796-7716-636293B71AE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EACD75F-FAFD-A02F-D812-4274A1018312}"/>
              </a:ext>
            </a:extLst>
          </p:cNvPr>
          <p:cNvSpPr>
            <a:spLocks noGrp="1"/>
          </p:cNvSpPr>
          <p:nvPr>
            <p:ph type="sldNum" sz="quarter" idx="12"/>
          </p:nvPr>
        </p:nvSpPr>
        <p:spPr/>
        <p:txBody>
          <a:bodyPr/>
          <a:lstStyle/>
          <a:p>
            <a:fld id="{A5AF7B27-E13C-46B3-9CC0-B9B04027F01E}" type="slidenum">
              <a:rPr lang="zh-CN" altLang="en-US" smtClean="0"/>
              <a:t>‹#›</a:t>
            </a:fld>
            <a:endParaRPr lang="zh-CN" altLang="en-US"/>
          </a:p>
        </p:txBody>
      </p:sp>
    </p:spTree>
    <p:extLst>
      <p:ext uri="{BB962C8B-B14F-4D97-AF65-F5344CB8AC3E}">
        <p14:creationId xmlns:p14="http://schemas.microsoft.com/office/powerpoint/2010/main" val="1536244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FE5201-D3B3-4A0C-9A9F-B30A989151F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574CD90-3C80-B99D-3420-50EB8D30F394}"/>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8553F2E-1371-5A78-4B62-117013AF569C}"/>
              </a:ext>
            </a:extLst>
          </p:cNvPr>
          <p:cNvSpPr>
            <a:spLocks noGrp="1"/>
          </p:cNvSpPr>
          <p:nvPr>
            <p:ph type="dt" sz="half" idx="10"/>
          </p:nvPr>
        </p:nvSpPr>
        <p:spPr/>
        <p:txBody>
          <a:bodyPr/>
          <a:lstStyle/>
          <a:p>
            <a:fld id="{2C2DF472-F8DC-41D6-AEA6-415A6B959B3E}" type="datetimeFigureOut">
              <a:rPr lang="zh-CN" altLang="en-US" smtClean="0"/>
              <a:t>2025/11/3</a:t>
            </a:fld>
            <a:endParaRPr lang="zh-CN" altLang="en-US"/>
          </a:p>
        </p:txBody>
      </p:sp>
      <p:sp>
        <p:nvSpPr>
          <p:cNvPr id="5" name="页脚占位符 4">
            <a:extLst>
              <a:ext uri="{FF2B5EF4-FFF2-40B4-BE49-F238E27FC236}">
                <a16:creationId xmlns:a16="http://schemas.microsoft.com/office/drawing/2014/main" id="{9C58EFF0-A375-BEFF-31A6-7DE1395C6AF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A91BB43-E03C-FA7F-6CF8-C2AEF5B3841F}"/>
              </a:ext>
            </a:extLst>
          </p:cNvPr>
          <p:cNvSpPr>
            <a:spLocks noGrp="1"/>
          </p:cNvSpPr>
          <p:nvPr>
            <p:ph type="sldNum" sz="quarter" idx="12"/>
          </p:nvPr>
        </p:nvSpPr>
        <p:spPr/>
        <p:txBody>
          <a:bodyPr/>
          <a:lstStyle/>
          <a:p>
            <a:fld id="{A5AF7B27-E13C-46B3-9CC0-B9B04027F01E}" type="slidenum">
              <a:rPr lang="zh-CN" altLang="en-US" smtClean="0"/>
              <a:t>‹#›</a:t>
            </a:fld>
            <a:endParaRPr lang="zh-CN" altLang="en-US"/>
          </a:p>
        </p:txBody>
      </p:sp>
    </p:spTree>
    <p:extLst>
      <p:ext uri="{BB962C8B-B14F-4D97-AF65-F5344CB8AC3E}">
        <p14:creationId xmlns:p14="http://schemas.microsoft.com/office/powerpoint/2010/main" val="28759525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E85D795-4255-214F-80DD-A8C6FA56637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9F38536-5DAD-075E-9D5D-48173662B36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F0B2331-21D2-C263-782F-F464DA19C8E8}"/>
              </a:ext>
            </a:extLst>
          </p:cNvPr>
          <p:cNvSpPr>
            <a:spLocks noGrp="1"/>
          </p:cNvSpPr>
          <p:nvPr>
            <p:ph type="dt" sz="half" idx="10"/>
          </p:nvPr>
        </p:nvSpPr>
        <p:spPr/>
        <p:txBody>
          <a:bodyPr/>
          <a:lstStyle/>
          <a:p>
            <a:fld id="{2C2DF472-F8DC-41D6-AEA6-415A6B959B3E}" type="datetimeFigureOut">
              <a:rPr lang="zh-CN" altLang="en-US" smtClean="0"/>
              <a:t>2025/11/3</a:t>
            </a:fld>
            <a:endParaRPr lang="zh-CN" altLang="en-US"/>
          </a:p>
        </p:txBody>
      </p:sp>
      <p:sp>
        <p:nvSpPr>
          <p:cNvPr id="5" name="页脚占位符 4">
            <a:extLst>
              <a:ext uri="{FF2B5EF4-FFF2-40B4-BE49-F238E27FC236}">
                <a16:creationId xmlns:a16="http://schemas.microsoft.com/office/drawing/2014/main" id="{3D1C699A-462B-4929-53B5-FD948101407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A425423-E88B-3537-E611-45CE3784858A}"/>
              </a:ext>
            </a:extLst>
          </p:cNvPr>
          <p:cNvSpPr>
            <a:spLocks noGrp="1"/>
          </p:cNvSpPr>
          <p:nvPr>
            <p:ph type="sldNum" sz="quarter" idx="12"/>
          </p:nvPr>
        </p:nvSpPr>
        <p:spPr/>
        <p:txBody>
          <a:bodyPr/>
          <a:lstStyle/>
          <a:p>
            <a:fld id="{A5AF7B27-E13C-46B3-9CC0-B9B04027F01E}" type="slidenum">
              <a:rPr lang="zh-CN" altLang="en-US" smtClean="0"/>
              <a:t>‹#›</a:t>
            </a:fld>
            <a:endParaRPr lang="zh-CN" altLang="en-US"/>
          </a:p>
        </p:txBody>
      </p:sp>
    </p:spTree>
    <p:extLst>
      <p:ext uri="{BB962C8B-B14F-4D97-AF65-F5344CB8AC3E}">
        <p14:creationId xmlns:p14="http://schemas.microsoft.com/office/powerpoint/2010/main" val="238991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8526F1A-C8A7-22B0-B51B-D71B561730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EAE15107-BA06-9AA7-BB6E-37F81D6672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07C396D-4AFD-211D-C400-850415C5FF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2DF472-F8DC-41D6-AEA6-415A6B959B3E}" type="datetimeFigureOut">
              <a:rPr lang="zh-CN" altLang="en-US" smtClean="0"/>
              <a:t>2025/11/3</a:t>
            </a:fld>
            <a:endParaRPr lang="zh-CN" altLang="en-US"/>
          </a:p>
        </p:txBody>
      </p:sp>
      <p:sp>
        <p:nvSpPr>
          <p:cNvPr id="5" name="页脚占位符 4">
            <a:extLst>
              <a:ext uri="{FF2B5EF4-FFF2-40B4-BE49-F238E27FC236}">
                <a16:creationId xmlns:a16="http://schemas.microsoft.com/office/drawing/2014/main" id="{785360F5-3F39-496B-5CCA-8C9F3336CA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565E4BE-8896-BC03-B6F4-04A5EA2B06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AF7B27-E13C-46B3-9CC0-B9B04027F01E}" type="slidenum">
              <a:rPr lang="zh-CN" altLang="en-US" smtClean="0"/>
              <a:t>‹#›</a:t>
            </a:fld>
            <a:endParaRPr lang="zh-CN" altLang="en-US"/>
          </a:p>
        </p:txBody>
      </p:sp>
    </p:spTree>
    <p:extLst>
      <p:ext uri="{BB962C8B-B14F-4D97-AF65-F5344CB8AC3E}">
        <p14:creationId xmlns:p14="http://schemas.microsoft.com/office/powerpoint/2010/main" val="19952940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对角圆角 4">
            <a:extLst>
              <a:ext uri="{FF2B5EF4-FFF2-40B4-BE49-F238E27FC236}">
                <a16:creationId xmlns:a16="http://schemas.microsoft.com/office/drawing/2014/main" id="{1D0A602C-56CE-1180-7F1D-2B27045398D4}"/>
              </a:ext>
            </a:extLst>
          </p:cNvPr>
          <p:cNvSpPr/>
          <p:nvPr/>
        </p:nvSpPr>
        <p:spPr>
          <a:xfrm>
            <a:off x="233757" y="1918178"/>
            <a:ext cx="2832577" cy="4805755"/>
          </a:xfrm>
          <a:prstGeom prst="round2DiagRect">
            <a:avLst/>
          </a:prstGeom>
          <a:solidFill>
            <a:srgbClr val="6699FF"/>
          </a:solidFill>
        </p:spPr>
        <p:style>
          <a:lnRef idx="1">
            <a:schemeClr val="accent1"/>
          </a:lnRef>
          <a:fillRef idx="2">
            <a:schemeClr val="accent1"/>
          </a:fillRef>
          <a:effectRef idx="1">
            <a:schemeClr val="accent1"/>
          </a:effectRef>
          <a:fontRef idx="minor">
            <a:schemeClr val="dk1"/>
          </a:fontRef>
        </p:style>
        <p:txBody>
          <a:bodyPr rtlCol="0" anchor="ctr"/>
          <a:lstStyle/>
          <a:p>
            <a:endParaRPr lang="en-US" altLang="zh-CN" sz="1200" dirty="0">
              <a:solidFill>
                <a:schemeClr val="bg1"/>
              </a:solidFill>
              <a:latin typeface="Times New Roman" panose="02020603050405020304" pitchFamily="18" charset="0"/>
              <a:cs typeface="Times New Roman" panose="02020603050405020304" pitchFamily="18" charset="0"/>
            </a:endParaRPr>
          </a:p>
          <a:p>
            <a:endParaRPr lang="en-US" altLang="zh-CN" sz="1200" dirty="0">
              <a:solidFill>
                <a:schemeClr val="bg1"/>
              </a:solidFill>
              <a:latin typeface="Times New Roman" panose="02020603050405020304" pitchFamily="18" charset="0"/>
              <a:cs typeface="Times New Roman" panose="02020603050405020304" pitchFamily="18" charset="0"/>
            </a:endParaRPr>
          </a:p>
          <a:p>
            <a:endParaRPr lang="en-US" altLang="zh-CN" sz="1200" dirty="0">
              <a:solidFill>
                <a:schemeClr val="bg1"/>
              </a:solidFill>
              <a:latin typeface="Times New Roman" panose="02020603050405020304" pitchFamily="18" charset="0"/>
              <a:cs typeface="Times New Roman" panose="02020603050405020304" pitchFamily="18" charset="0"/>
            </a:endParaRPr>
          </a:p>
          <a:p>
            <a:endParaRPr lang="en-US" altLang="zh-CN" sz="1200" dirty="0">
              <a:solidFill>
                <a:schemeClr val="bg1"/>
              </a:solidFill>
              <a:latin typeface="Times New Roman" panose="02020603050405020304" pitchFamily="18" charset="0"/>
              <a:cs typeface="Times New Roman" panose="02020603050405020304" pitchFamily="18" charset="0"/>
            </a:endParaRPr>
          </a:p>
          <a:p>
            <a:r>
              <a:rPr lang="zh-CN" altLang="zh-CN" sz="1200" dirty="0">
                <a:solidFill>
                  <a:schemeClr val="bg1"/>
                </a:solidFill>
                <a:latin typeface="Times New Roman" panose="02020603050405020304" pitchFamily="18" charset="0"/>
                <a:cs typeface="Times New Roman" panose="02020603050405020304" pitchFamily="18" charset="0"/>
              </a:rPr>
              <a:t>孩子扁桃体发炎并高烧时，咽喉疼痛明显，进食困难，应遵循</a:t>
            </a:r>
            <a:r>
              <a:rPr lang="zh-CN" altLang="zh-CN" sz="1200" b="1" dirty="0">
                <a:solidFill>
                  <a:schemeClr val="bg1"/>
                </a:solidFill>
                <a:latin typeface="Times New Roman" panose="02020603050405020304" pitchFamily="18" charset="0"/>
                <a:cs typeface="Times New Roman" panose="02020603050405020304" pitchFamily="18" charset="0"/>
              </a:rPr>
              <a:t>清淡、易消化、富含营养</a:t>
            </a:r>
            <a:r>
              <a:rPr lang="zh-CN" altLang="zh-CN" sz="1200" dirty="0">
                <a:solidFill>
                  <a:schemeClr val="bg1"/>
                </a:solidFill>
                <a:latin typeface="Times New Roman" panose="02020603050405020304" pitchFamily="18" charset="0"/>
                <a:cs typeface="Times New Roman" panose="02020603050405020304" pitchFamily="18" charset="0"/>
              </a:rPr>
              <a:t>的饮食原则。主要建议如下：</a:t>
            </a:r>
          </a:p>
          <a:p>
            <a:pPr lvl="0"/>
            <a:r>
              <a:rPr lang="zh-CN" altLang="zh-CN" sz="1200" b="1" dirty="0">
                <a:solidFill>
                  <a:schemeClr val="bg1"/>
                </a:solidFill>
                <a:latin typeface="Times New Roman" panose="02020603050405020304" pitchFamily="18" charset="0"/>
                <a:cs typeface="Times New Roman" panose="02020603050405020304" pitchFamily="18" charset="0"/>
              </a:rPr>
              <a:t>多饮水</a:t>
            </a:r>
            <a:r>
              <a:rPr lang="zh-CN" altLang="zh-CN" sz="1200" dirty="0">
                <a:solidFill>
                  <a:schemeClr val="bg1"/>
                </a:solidFill>
                <a:latin typeface="Times New Roman" panose="02020603050405020304" pitchFamily="18" charset="0"/>
                <a:cs typeface="Times New Roman" panose="02020603050405020304" pitchFamily="18" charset="0"/>
              </a:rPr>
              <a:t>：有助于退烧和稀释痰液，可饮温开水或淡盐水，避免过热或过冷饮品。</a:t>
            </a:r>
          </a:p>
          <a:p>
            <a:pPr lvl="0"/>
            <a:r>
              <a:rPr lang="zh-CN" altLang="zh-CN" sz="1200" b="1" dirty="0">
                <a:solidFill>
                  <a:schemeClr val="bg1"/>
                </a:solidFill>
                <a:latin typeface="Times New Roman" panose="02020603050405020304" pitchFamily="18" charset="0"/>
                <a:cs typeface="Times New Roman" panose="02020603050405020304" pitchFamily="18" charset="0"/>
              </a:rPr>
              <a:t>选择软食</a:t>
            </a:r>
            <a:r>
              <a:rPr lang="zh-CN" altLang="zh-CN" sz="1200" dirty="0">
                <a:solidFill>
                  <a:schemeClr val="bg1"/>
                </a:solidFill>
                <a:latin typeface="Times New Roman" panose="02020603050405020304" pitchFamily="18" charset="0"/>
                <a:cs typeface="Times New Roman" panose="02020603050405020304" pitchFamily="18" charset="0"/>
              </a:rPr>
              <a:t>：如稀粥、鸡蛋羹、面条、蒸蛋、蔬菜泥、瘦肉粥等，减少咽部摩擦。</a:t>
            </a:r>
          </a:p>
          <a:p>
            <a:pPr lvl="0"/>
            <a:r>
              <a:rPr lang="zh-CN" altLang="zh-CN" sz="1200" b="1" dirty="0">
                <a:solidFill>
                  <a:schemeClr val="bg1"/>
                </a:solidFill>
                <a:latin typeface="Times New Roman" panose="02020603050405020304" pitchFamily="18" charset="0"/>
                <a:cs typeface="Times New Roman" panose="02020603050405020304" pitchFamily="18" charset="0"/>
              </a:rPr>
              <a:t>增加维生素摄入</a:t>
            </a:r>
            <a:r>
              <a:rPr lang="zh-CN" altLang="zh-CN" sz="1200" dirty="0">
                <a:solidFill>
                  <a:schemeClr val="bg1"/>
                </a:solidFill>
                <a:latin typeface="Times New Roman" panose="02020603050405020304" pitchFamily="18" charset="0"/>
                <a:cs typeface="Times New Roman" panose="02020603050405020304" pitchFamily="18" charset="0"/>
              </a:rPr>
              <a:t>：尤其是维生素</a:t>
            </a:r>
            <a:r>
              <a:rPr lang="en-US" altLang="zh-CN" sz="1200" dirty="0">
                <a:solidFill>
                  <a:schemeClr val="bg1"/>
                </a:solidFill>
                <a:latin typeface="Times New Roman" panose="02020603050405020304" pitchFamily="18" charset="0"/>
                <a:cs typeface="Times New Roman" panose="02020603050405020304" pitchFamily="18" charset="0"/>
              </a:rPr>
              <a:t>C</a:t>
            </a:r>
            <a:r>
              <a:rPr lang="zh-CN" altLang="zh-CN" sz="1200" dirty="0">
                <a:solidFill>
                  <a:schemeClr val="bg1"/>
                </a:solidFill>
                <a:latin typeface="Times New Roman" panose="02020603050405020304" pitchFamily="18" charset="0"/>
                <a:cs typeface="Times New Roman" panose="02020603050405020304" pitchFamily="18" charset="0"/>
              </a:rPr>
              <a:t>和维生素</a:t>
            </a:r>
            <a:r>
              <a:rPr lang="en-US" altLang="zh-CN" sz="1200" dirty="0">
                <a:solidFill>
                  <a:schemeClr val="bg1"/>
                </a:solidFill>
                <a:latin typeface="Times New Roman" panose="02020603050405020304" pitchFamily="18" charset="0"/>
                <a:cs typeface="Times New Roman" panose="02020603050405020304" pitchFamily="18" charset="0"/>
              </a:rPr>
              <a:t>B</a:t>
            </a:r>
            <a:r>
              <a:rPr lang="zh-CN" altLang="zh-CN" sz="1200" dirty="0">
                <a:solidFill>
                  <a:schemeClr val="bg1"/>
                </a:solidFill>
                <a:latin typeface="Times New Roman" panose="02020603050405020304" pitchFamily="18" charset="0"/>
                <a:cs typeface="Times New Roman" panose="02020603050405020304" pitchFamily="18" charset="0"/>
              </a:rPr>
              <a:t>，可通过新鲜水果（如梨、苹果、香蕉）和蔬菜补充。</a:t>
            </a:r>
          </a:p>
          <a:p>
            <a:pPr lvl="0"/>
            <a:r>
              <a:rPr lang="zh-CN" altLang="zh-CN" sz="1200" b="1" dirty="0">
                <a:solidFill>
                  <a:schemeClr val="bg1"/>
                </a:solidFill>
                <a:latin typeface="Times New Roman" panose="02020603050405020304" pitchFamily="18" charset="0"/>
                <a:cs typeface="Times New Roman" panose="02020603050405020304" pitchFamily="18" charset="0"/>
              </a:rPr>
              <a:t>避免刺激性食物</a:t>
            </a:r>
            <a:r>
              <a:rPr lang="zh-CN" altLang="zh-CN" sz="1200" dirty="0">
                <a:solidFill>
                  <a:schemeClr val="bg1"/>
                </a:solidFill>
                <a:latin typeface="Times New Roman" panose="02020603050405020304" pitchFamily="18" charset="0"/>
                <a:cs typeface="Times New Roman" panose="02020603050405020304" pitchFamily="18" charset="0"/>
              </a:rPr>
              <a:t>：如辛辣、油炸、过咸或过甜的食品，会加重喉咙肿痛。</a:t>
            </a:r>
          </a:p>
          <a:p>
            <a:pPr lvl="0"/>
            <a:r>
              <a:rPr lang="zh-CN" altLang="zh-CN" sz="1200" b="1" dirty="0">
                <a:solidFill>
                  <a:schemeClr val="bg1"/>
                </a:solidFill>
                <a:latin typeface="Times New Roman" panose="02020603050405020304" pitchFamily="18" charset="0"/>
                <a:cs typeface="Times New Roman" panose="02020603050405020304" pitchFamily="18" charset="0"/>
              </a:rPr>
              <a:t>少量多餐</a:t>
            </a:r>
            <a:r>
              <a:rPr lang="zh-CN" altLang="zh-CN" sz="1200" dirty="0">
                <a:solidFill>
                  <a:schemeClr val="bg1"/>
                </a:solidFill>
                <a:latin typeface="Times New Roman" panose="02020603050405020304" pitchFamily="18" charset="0"/>
                <a:cs typeface="Times New Roman" panose="02020603050405020304" pitchFamily="18" charset="0"/>
              </a:rPr>
              <a:t>：发热时胃口差，可分次进食，避免强迫进食。</a:t>
            </a:r>
          </a:p>
          <a:p>
            <a:r>
              <a:rPr lang="zh-CN" altLang="zh-CN" sz="1200" dirty="0">
                <a:solidFill>
                  <a:schemeClr val="bg1"/>
                </a:solidFill>
                <a:latin typeface="Times New Roman" panose="02020603050405020304" pitchFamily="18" charset="0"/>
                <a:cs typeface="Times New Roman" panose="02020603050405020304" pitchFamily="18" charset="0"/>
              </a:rPr>
              <a:t>恢复期可逐渐增加蛋白质摄入，如瘦肉、豆制品、鱼肉等，帮助修复组织、增强免疫力。</a:t>
            </a:r>
          </a:p>
          <a:p>
            <a:pPr algn="ct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2" name="矩形: 对角圆角 11">
            <a:extLst>
              <a:ext uri="{FF2B5EF4-FFF2-40B4-BE49-F238E27FC236}">
                <a16:creationId xmlns:a16="http://schemas.microsoft.com/office/drawing/2014/main" id="{2DF85C6C-781A-AECB-CF36-28BB68604FE2}"/>
              </a:ext>
            </a:extLst>
          </p:cNvPr>
          <p:cNvSpPr/>
          <p:nvPr/>
        </p:nvSpPr>
        <p:spPr>
          <a:xfrm>
            <a:off x="6079062" y="1918178"/>
            <a:ext cx="2893314" cy="4805755"/>
          </a:xfrm>
          <a:prstGeom prst="round2DiagRect">
            <a:avLst/>
          </a:prstGeom>
          <a:solidFill>
            <a:srgbClr val="6699FF"/>
          </a:solidFill>
        </p:spPr>
        <p:style>
          <a:lnRef idx="1">
            <a:schemeClr val="accent1"/>
          </a:lnRef>
          <a:fillRef idx="2">
            <a:schemeClr val="accent1"/>
          </a:fillRef>
          <a:effectRef idx="1">
            <a:schemeClr val="accent1"/>
          </a:effectRef>
          <a:fontRef idx="minor">
            <a:schemeClr val="dk1"/>
          </a:fontRef>
        </p:style>
        <p:txBody>
          <a:bodyPr rtlCol="0" anchor="ctr"/>
          <a:lstStyle/>
          <a:p>
            <a:endParaRPr lang="en-US" altLang="zh-CN" sz="1400" dirty="0">
              <a:solidFill>
                <a:schemeClr val="bg1"/>
              </a:solidFill>
            </a:endParaRPr>
          </a:p>
          <a:p>
            <a:endParaRPr lang="en-US" altLang="zh-CN" sz="1400" dirty="0">
              <a:solidFill>
                <a:schemeClr val="bg1"/>
              </a:solidFill>
            </a:endParaRPr>
          </a:p>
          <a:p>
            <a:endParaRPr lang="en-US" altLang="zh-CN" sz="1400" dirty="0">
              <a:solidFill>
                <a:schemeClr val="bg1"/>
              </a:solidFill>
            </a:endParaRPr>
          </a:p>
          <a:p>
            <a:endParaRPr lang="en-US" altLang="zh-CN" sz="1400" dirty="0">
              <a:solidFill>
                <a:schemeClr val="bg1"/>
              </a:solidFill>
            </a:endParaRPr>
          </a:p>
          <a:p>
            <a:r>
              <a:rPr lang="zh-CN" altLang="zh-CN" sz="1400" dirty="0">
                <a:solidFill>
                  <a:schemeClr val="bg1"/>
                </a:solidFill>
              </a:rPr>
              <a:t>孩子扁桃体发炎高烧不退时，饮食需遵循</a:t>
            </a:r>
            <a:r>
              <a:rPr lang="en-US" altLang="zh-CN" sz="1400" dirty="0">
                <a:solidFill>
                  <a:schemeClr val="bg1"/>
                </a:solidFill>
              </a:rPr>
              <a:t> “</a:t>
            </a:r>
            <a:r>
              <a:rPr lang="zh-CN" altLang="zh-CN" sz="1400" dirty="0">
                <a:solidFill>
                  <a:schemeClr val="bg1"/>
                </a:solidFill>
              </a:rPr>
              <a:t>清淡、流质</a:t>
            </a:r>
            <a:r>
              <a:rPr lang="en-US" altLang="zh-CN" sz="1400" dirty="0">
                <a:solidFill>
                  <a:schemeClr val="bg1"/>
                </a:solidFill>
              </a:rPr>
              <a:t> / </a:t>
            </a:r>
            <a:r>
              <a:rPr lang="zh-CN" altLang="zh-CN" sz="1400" dirty="0">
                <a:solidFill>
                  <a:schemeClr val="bg1"/>
                </a:solidFill>
              </a:rPr>
              <a:t>半流质、易吞咽、补营养</a:t>
            </a:r>
            <a:r>
              <a:rPr lang="en-US" altLang="zh-CN" sz="1400" dirty="0">
                <a:solidFill>
                  <a:schemeClr val="bg1"/>
                </a:solidFill>
              </a:rPr>
              <a:t>” </a:t>
            </a:r>
            <a:r>
              <a:rPr lang="zh-CN" altLang="zh-CN" sz="1400" dirty="0">
                <a:solidFill>
                  <a:schemeClr val="bg1"/>
                </a:solidFill>
              </a:rPr>
              <a:t>原则，具体注意事项和推荐食物如下：</a:t>
            </a:r>
          </a:p>
          <a:p>
            <a:pPr lvl="0"/>
            <a:r>
              <a:rPr lang="zh-CN" altLang="zh-CN" sz="1400" b="1" dirty="0">
                <a:solidFill>
                  <a:schemeClr val="bg1"/>
                </a:solidFill>
              </a:rPr>
              <a:t>饮食原则</a:t>
            </a:r>
            <a:r>
              <a:rPr lang="zh-CN" altLang="zh-CN" sz="1400" dirty="0">
                <a:solidFill>
                  <a:schemeClr val="bg1"/>
                </a:solidFill>
              </a:rPr>
              <a:t>：避免辛辣、过烫、过硬食物（如辣椒、热汤、坚果），减少咽喉刺激；少量多次喂食，避免孩子因吞咽痛抗拒进食；保证水分摄入，预防脱水。</a:t>
            </a:r>
          </a:p>
          <a:p>
            <a:pPr lvl="0"/>
            <a:r>
              <a:rPr lang="zh-CN" altLang="zh-CN" sz="1400" b="1" dirty="0">
                <a:solidFill>
                  <a:schemeClr val="bg1"/>
                </a:solidFill>
              </a:rPr>
              <a:t>推荐食物</a:t>
            </a:r>
            <a:r>
              <a:rPr lang="zh-CN" altLang="zh-CN" sz="1400" dirty="0">
                <a:solidFill>
                  <a:schemeClr val="bg1"/>
                </a:solidFill>
              </a:rPr>
              <a:t>：优先选择温凉的流质</a:t>
            </a:r>
            <a:r>
              <a:rPr lang="en-US" altLang="zh-CN" sz="1400" dirty="0">
                <a:solidFill>
                  <a:schemeClr val="bg1"/>
                </a:solidFill>
              </a:rPr>
              <a:t> / </a:t>
            </a:r>
            <a:r>
              <a:rPr lang="zh-CN" altLang="zh-CN" sz="1400" dirty="0">
                <a:solidFill>
                  <a:schemeClr val="bg1"/>
                </a:solidFill>
              </a:rPr>
              <a:t>半流质食物，如小米粥、南瓜粥、蔬菜泥；还可吃蒸蛋羹、豆腐脑补充蛋白质；水果选香蕉、苹果泥等软质且温和的，也可榨成温凉果汁（避免酸性强的柑橘类）。</a:t>
            </a:r>
          </a:p>
          <a:p>
            <a:pPr algn="ctr"/>
            <a:endParaRPr lang="zh-CN" altLang="en-US" sz="1400" dirty="0">
              <a:solidFill>
                <a:schemeClr val="bg1"/>
              </a:solidFill>
            </a:endParaRPr>
          </a:p>
        </p:txBody>
      </p:sp>
      <p:sp>
        <p:nvSpPr>
          <p:cNvPr id="13" name="矩形: 对角圆角 12">
            <a:extLst>
              <a:ext uri="{FF2B5EF4-FFF2-40B4-BE49-F238E27FC236}">
                <a16:creationId xmlns:a16="http://schemas.microsoft.com/office/drawing/2014/main" id="{AAD20C5A-297D-A280-0E7B-27F0C311F6A0}"/>
              </a:ext>
            </a:extLst>
          </p:cNvPr>
          <p:cNvSpPr/>
          <p:nvPr/>
        </p:nvSpPr>
        <p:spPr>
          <a:xfrm>
            <a:off x="3126041" y="1918178"/>
            <a:ext cx="2893314" cy="4805755"/>
          </a:xfrm>
          <a:prstGeom prst="round2DiagRect">
            <a:avLst/>
          </a:prstGeom>
          <a:solidFill>
            <a:srgbClr val="6699FF"/>
          </a:solidFill>
        </p:spPr>
        <p:style>
          <a:lnRef idx="1">
            <a:schemeClr val="accent1"/>
          </a:lnRef>
          <a:fillRef idx="2">
            <a:schemeClr val="accent1"/>
          </a:fillRef>
          <a:effectRef idx="1">
            <a:schemeClr val="accent1"/>
          </a:effectRef>
          <a:fontRef idx="minor">
            <a:schemeClr val="dk1"/>
          </a:fontRef>
        </p:style>
        <p:txBody>
          <a:bodyPr rtlCol="0" anchor="ctr"/>
          <a:lstStyle/>
          <a:p>
            <a:r>
              <a:rPr lang="zh-CN" altLang="zh-CN" sz="1200" dirty="0">
                <a:solidFill>
                  <a:schemeClr val="bg1"/>
                </a:solidFill>
              </a:rPr>
              <a:t>孩子扁桃体发炎伴发烧时，饮食核心原则是：</a:t>
            </a:r>
            <a:r>
              <a:rPr lang="zh-CN" altLang="zh-CN" sz="1200" b="1" dirty="0">
                <a:solidFill>
                  <a:schemeClr val="bg1"/>
                </a:solidFill>
              </a:rPr>
              <a:t>温和、柔软、滋润、易吞咽</a:t>
            </a:r>
            <a:r>
              <a:rPr lang="zh-CN" altLang="zh-CN" sz="1200" dirty="0">
                <a:solidFill>
                  <a:schemeClr val="bg1"/>
                </a:solidFill>
              </a:rPr>
              <a:t>，以减少对喉咙的刺激。</a:t>
            </a:r>
          </a:p>
          <a:p>
            <a:r>
              <a:rPr lang="zh-CN" altLang="zh-CN" sz="1200" b="1" dirty="0">
                <a:solidFill>
                  <a:schemeClr val="bg1"/>
                </a:solidFill>
              </a:rPr>
              <a:t>推荐饮食：</a:t>
            </a:r>
            <a:endParaRPr lang="zh-CN" altLang="zh-CN" sz="1200" dirty="0">
              <a:solidFill>
                <a:schemeClr val="bg1"/>
              </a:solidFill>
            </a:endParaRPr>
          </a:p>
          <a:p>
            <a:pPr lvl="0"/>
            <a:r>
              <a:rPr lang="zh-CN" altLang="zh-CN" sz="1200" b="1" dirty="0">
                <a:solidFill>
                  <a:schemeClr val="bg1"/>
                </a:solidFill>
              </a:rPr>
              <a:t>流质</a:t>
            </a:r>
            <a:r>
              <a:rPr lang="en-US" altLang="zh-CN" sz="1200" b="1" dirty="0">
                <a:solidFill>
                  <a:schemeClr val="bg1"/>
                </a:solidFill>
              </a:rPr>
              <a:t>/</a:t>
            </a:r>
            <a:r>
              <a:rPr lang="zh-CN" altLang="zh-CN" sz="1200" b="1" dirty="0">
                <a:solidFill>
                  <a:schemeClr val="bg1"/>
                </a:solidFill>
              </a:rPr>
              <a:t>半流质</a:t>
            </a:r>
            <a:r>
              <a:rPr lang="zh-CN" altLang="zh-CN" sz="1200" dirty="0">
                <a:solidFill>
                  <a:schemeClr val="bg1"/>
                </a:solidFill>
              </a:rPr>
              <a:t>：凉或温的粥、烂面条、蔬菜泥、蒸蛋羹。</a:t>
            </a:r>
          </a:p>
          <a:p>
            <a:pPr lvl="0"/>
            <a:r>
              <a:rPr lang="zh-CN" altLang="zh-CN" sz="1200" b="1" dirty="0">
                <a:solidFill>
                  <a:schemeClr val="bg1"/>
                </a:solidFill>
              </a:rPr>
              <a:t>滋润饮品</a:t>
            </a:r>
            <a:r>
              <a:rPr lang="zh-CN" altLang="zh-CN" sz="1200" dirty="0">
                <a:solidFill>
                  <a:schemeClr val="bg1"/>
                </a:solidFill>
              </a:rPr>
              <a:t>：温水、稀释的果汁（非酸性）、蜂蜜柠檬水（一岁以上）。</a:t>
            </a:r>
          </a:p>
          <a:p>
            <a:pPr lvl="0"/>
            <a:r>
              <a:rPr lang="zh-CN" altLang="zh-CN" sz="1200" b="1" dirty="0">
                <a:solidFill>
                  <a:schemeClr val="bg1"/>
                </a:solidFill>
              </a:rPr>
              <a:t>高营养软食</a:t>
            </a:r>
            <a:r>
              <a:rPr lang="zh-CN" altLang="zh-CN" sz="1200" dirty="0">
                <a:solidFill>
                  <a:schemeClr val="bg1"/>
                </a:solidFill>
              </a:rPr>
              <a:t>：酸奶、豆花、香蕉泥。</a:t>
            </a:r>
          </a:p>
          <a:p>
            <a:r>
              <a:rPr lang="zh-CN" altLang="zh-CN" sz="1200" b="1" dirty="0">
                <a:solidFill>
                  <a:schemeClr val="bg1"/>
                </a:solidFill>
              </a:rPr>
              <a:t>需避免的食物：</a:t>
            </a:r>
            <a:endParaRPr lang="zh-CN" altLang="zh-CN" sz="1200" dirty="0">
              <a:solidFill>
                <a:schemeClr val="bg1"/>
              </a:solidFill>
            </a:endParaRPr>
          </a:p>
          <a:p>
            <a:pPr lvl="0"/>
            <a:r>
              <a:rPr lang="zh-CN" altLang="zh-CN" sz="1200" b="1" dirty="0">
                <a:solidFill>
                  <a:schemeClr val="bg1"/>
                </a:solidFill>
              </a:rPr>
              <a:t>刺激性</a:t>
            </a:r>
            <a:r>
              <a:rPr lang="zh-CN" altLang="zh-CN" sz="1200" dirty="0">
                <a:solidFill>
                  <a:schemeClr val="bg1"/>
                </a:solidFill>
              </a:rPr>
              <a:t>：辛辣、过烫、过硬（如薯片）的食物。</a:t>
            </a:r>
          </a:p>
          <a:p>
            <a:pPr lvl="0"/>
            <a:r>
              <a:rPr lang="zh-CN" altLang="zh-CN" sz="1200" b="1" dirty="0">
                <a:solidFill>
                  <a:schemeClr val="bg1"/>
                </a:solidFill>
              </a:rPr>
              <a:t>酸性或粗纤维</a:t>
            </a:r>
            <a:r>
              <a:rPr lang="zh-CN" altLang="zh-CN" sz="1200" dirty="0">
                <a:solidFill>
                  <a:schemeClr val="bg1"/>
                </a:solidFill>
              </a:rPr>
              <a:t>：橙汁、番茄及粗纤维蔬菜，可能加剧疼痛。</a:t>
            </a:r>
          </a:p>
          <a:p>
            <a:r>
              <a:rPr lang="zh-CN" altLang="zh-CN" sz="1200" b="1" dirty="0">
                <a:solidFill>
                  <a:schemeClr val="bg1"/>
                </a:solidFill>
              </a:rPr>
              <a:t>核心建议</a:t>
            </a:r>
            <a:r>
              <a:rPr lang="zh-CN" altLang="zh-CN" sz="1200" dirty="0">
                <a:solidFill>
                  <a:schemeClr val="bg1"/>
                </a:solidFill>
              </a:rPr>
              <a:t>：保证液体摄入以防脱水，并严格遵医嘱用药。若孩子完全无法进食或精神萎靡，请立即就医。</a:t>
            </a:r>
            <a:endParaRPr lang="zh-CN" altLang="en-US" sz="1200" dirty="0">
              <a:solidFill>
                <a:schemeClr val="bg1"/>
              </a:solidFill>
            </a:endParaRPr>
          </a:p>
        </p:txBody>
      </p:sp>
      <p:sp>
        <p:nvSpPr>
          <p:cNvPr id="14" name="矩形: 对角圆角 13">
            <a:extLst>
              <a:ext uri="{FF2B5EF4-FFF2-40B4-BE49-F238E27FC236}">
                <a16:creationId xmlns:a16="http://schemas.microsoft.com/office/drawing/2014/main" id="{C79C968A-2FD7-DAF4-3A52-9D055269A1D1}"/>
              </a:ext>
            </a:extLst>
          </p:cNvPr>
          <p:cNvSpPr/>
          <p:nvPr/>
        </p:nvSpPr>
        <p:spPr>
          <a:xfrm>
            <a:off x="9032084" y="1918178"/>
            <a:ext cx="2893314" cy="4805755"/>
          </a:xfrm>
          <a:prstGeom prst="round2DiagRect">
            <a:avLst/>
          </a:prstGeom>
          <a:solidFill>
            <a:srgbClr val="6699FF"/>
          </a:solidFill>
        </p:spPr>
        <p:style>
          <a:lnRef idx="1">
            <a:schemeClr val="accent1"/>
          </a:lnRef>
          <a:fillRef idx="2">
            <a:schemeClr val="accent1"/>
          </a:fillRef>
          <a:effectRef idx="1">
            <a:schemeClr val="accent1"/>
          </a:effectRef>
          <a:fontRef idx="minor">
            <a:schemeClr val="dk1"/>
          </a:fontRef>
        </p:style>
        <p:txBody>
          <a:bodyPr rtlCol="0" anchor="ctr"/>
          <a:lstStyle/>
          <a:p>
            <a:endParaRPr lang="en-US" altLang="zh-CN" sz="1400" dirty="0">
              <a:solidFill>
                <a:schemeClr val="bg1"/>
              </a:solidFill>
            </a:endParaRPr>
          </a:p>
          <a:p>
            <a:r>
              <a:rPr lang="zh-CN" altLang="zh-CN" sz="1400" dirty="0">
                <a:solidFill>
                  <a:schemeClr val="bg1"/>
                </a:solidFill>
              </a:rPr>
              <a:t>在孩子扁桃体发炎高烧的情况下，饮食原则主要是选择容易消化、清淡且富含维生素和微量元素的食物。可以多吃一些蔬菜和水果，这类食物不仅能提高免疫力，还具有清热和消炎作用。例如，可以选择梨、西瓜、金橘等水果，以及一些绿叶青菜和西红柿等蔬菜。还可以选择稀粥等容易消化的食物。</a:t>
            </a:r>
          </a:p>
          <a:p>
            <a:r>
              <a:rPr lang="zh-CN" altLang="zh-CN" sz="1400" dirty="0">
                <a:solidFill>
                  <a:schemeClr val="bg1"/>
                </a:solidFill>
              </a:rPr>
              <a:t>同时，也要注意尽量不要让孩子吃发物，如牛羊肉、狗肉和海鲜等，这些食物可能会加剧症状。家长也需要帮助孩子改正挑食厌食的坏习惯，保证营养全面吸收。</a:t>
            </a:r>
          </a:p>
        </p:txBody>
      </p:sp>
      <p:sp>
        <p:nvSpPr>
          <p:cNvPr id="15" name="文本框 14">
            <a:extLst>
              <a:ext uri="{FF2B5EF4-FFF2-40B4-BE49-F238E27FC236}">
                <a16:creationId xmlns:a16="http://schemas.microsoft.com/office/drawing/2014/main" id="{4857181C-6CF9-97CC-46CC-22FCBD4EF5CB}"/>
              </a:ext>
            </a:extLst>
          </p:cNvPr>
          <p:cNvSpPr txBox="1"/>
          <p:nvPr/>
        </p:nvSpPr>
        <p:spPr>
          <a:xfrm>
            <a:off x="375843" y="348518"/>
            <a:ext cx="11440314" cy="1569660"/>
          </a:xfrm>
          <a:prstGeom prst="rect">
            <a:avLst/>
          </a:prstGeom>
          <a:noFill/>
        </p:spPr>
        <p:txBody>
          <a:bodyPr wrap="square" rtlCol="0">
            <a:spAutoFit/>
          </a:bodyPr>
          <a:lstStyle/>
          <a:p>
            <a:r>
              <a:rPr lang="en-US" altLang="zh-CN" sz="2800" b="1" dirty="0">
                <a:latin typeface="Times New Roman" panose="02020603050405020304" pitchFamily="18" charset="0"/>
                <a:cs typeface="Times New Roman" panose="02020603050405020304" pitchFamily="18" charset="0"/>
              </a:rPr>
              <a:t>Question</a:t>
            </a:r>
            <a:r>
              <a:rPr lang="en-US" altLang="zh-CN" sz="2400" b="1" dirty="0">
                <a:latin typeface="Times New Roman" panose="02020603050405020304" pitchFamily="18" charset="0"/>
                <a:cs typeface="Times New Roman" panose="02020603050405020304" pitchFamily="18" charset="0"/>
              </a:rPr>
              <a:t>: </a:t>
            </a:r>
          </a:p>
          <a:p>
            <a:r>
              <a:rPr lang="zh-CN" altLang="zh-CN" sz="2400" b="1" dirty="0">
                <a:latin typeface="Times New Roman" panose="02020603050405020304" pitchFamily="18" charset="0"/>
                <a:cs typeface="Times New Roman" panose="02020603050405020304" pitchFamily="18" charset="0"/>
              </a:rPr>
              <a:t>孩子扁桃体发炎高烧不退，吃东西也不太舒服，请问应该注意哪些饮食原则？</a:t>
            </a:r>
            <a:endParaRPr lang="en-US" altLang="zh-CN" sz="2400" b="1" dirty="0">
              <a:latin typeface="Times New Roman" panose="02020603050405020304" pitchFamily="18" charset="0"/>
              <a:cs typeface="Times New Roman" panose="02020603050405020304" pitchFamily="18" charset="0"/>
            </a:endParaRPr>
          </a:p>
          <a:p>
            <a:r>
              <a:rPr lang="zh-CN" altLang="zh-CN" sz="2400" b="1" dirty="0">
                <a:latin typeface="Times New Roman" panose="02020603050405020304" pitchFamily="18" charset="0"/>
                <a:cs typeface="Times New Roman" panose="02020603050405020304" pitchFamily="18" charset="0"/>
              </a:rPr>
              <a:t>哪些食物有助于恢复？</a:t>
            </a:r>
          </a:p>
          <a:p>
            <a:endParaRPr lang="zh-CN" altLang="en-US" sz="2000" dirty="0">
              <a:latin typeface="Times New Roman" panose="02020603050405020304" pitchFamily="18" charset="0"/>
              <a:cs typeface="Times New Roman" panose="02020603050405020304" pitchFamily="18" charset="0"/>
            </a:endParaRPr>
          </a:p>
        </p:txBody>
      </p:sp>
      <p:pic>
        <p:nvPicPr>
          <p:cNvPr id="1026" name="Picture 2" descr="ChatGPT - Wikipedia">
            <a:extLst>
              <a:ext uri="{FF2B5EF4-FFF2-40B4-BE49-F238E27FC236}">
                <a16:creationId xmlns:a16="http://schemas.microsoft.com/office/drawing/2014/main" id="{B19CF0D1-8D1A-7E4D-3B22-377975CFEF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1940" y="1966305"/>
            <a:ext cx="646267" cy="64626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eepSeek - Desktop App for Mac, Windows (PC) - WebCatalog">
            <a:extLst>
              <a:ext uri="{FF2B5EF4-FFF2-40B4-BE49-F238E27FC236}">
                <a16:creationId xmlns:a16="http://schemas.microsoft.com/office/drawing/2014/main" id="{2E52A298-D70D-DF6B-298C-ABF8E2370A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5769" y="1966305"/>
            <a:ext cx="721895" cy="72189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豆包- 字节跳动旗下AI 智能助手">
            <a:extLst>
              <a:ext uri="{FF2B5EF4-FFF2-40B4-BE49-F238E27FC236}">
                <a16:creationId xmlns:a16="http://schemas.microsoft.com/office/drawing/2014/main" id="{F7EBB5D1-0FFD-9BCF-F66E-CB60E192FC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39083" y="1966305"/>
            <a:ext cx="776323" cy="776323"/>
          </a:xfrm>
          <a:prstGeom prst="rect">
            <a:avLst/>
          </a:prstGeom>
          <a:noFill/>
          <a:extLst>
            <a:ext uri="{909E8E84-426E-40DD-AFC4-6F175D3DCCD1}">
              <a14:hiddenFill xmlns:a14="http://schemas.microsoft.com/office/drawing/2010/main">
                <a:solidFill>
                  <a:srgbClr val="FFFFFF"/>
                </a:solidFill>
              </a14:hiddenFill>
            </a:ext>
          </a:extLst>
        </p:spPr>
      </p:pic>
      <p:sp>
        <p:nvSpPr>
          <p:cNvPr id="16" name="矩形 15">
            <a:extLst>
              <a:ext uri="{FF2B5EF4-FFF2-40B4-BE49-F238E27FC236}">
                <a16:creationId xmlns:a16="http://schemas.microsoft.com/office/drawing/2014/main" id="{202B3D81-F4D8-0688-437D-7FEB324D60E4}"/>
              </a:ext>
            </a:extLst>
          </p:cNvPr>
          <p:cNvSpPr/>
          <p:nvPr/>
        </p:nvSpPr>
        <p:spPr>
          <a:xfrm>
            <a:off x="10712970" y="2004086"/>
            <a:ext cx="1103187" cy="646331"/>
          </a:xfrm>
          <a:prstGeom prst="rect">
            <a:avLst/>
          </a:prstGeom>
          <a:noFill/>
        </p:spPr>
        <p:txBody>
          <a:bodyPr wrap="none" lIns="91440" tIns="45720" rIns="91440" bIns="45720">
            <a:spAutoFit/>
          </a:bodyPr>
          <a:lstStyle/>
          <a:p>
            <a:pPr algn="ctr"/>
            <a:r>
              <a:rPr lang="en-US" altLang="zh-CN" sz="3600" b="1" cap="none" spc="0" dirty="0">
                <a:ln w="22225">
                  <a:solidFill>
                    <a:schemeClr val="accent2"/>
                  </a:solidFill>
                  <a:prstDash val="solid"/>
                </a:ln>
                <a:solidFill>
                  <a:schemeClr val="accent2">
                    <a:lumMod val="40000"/>
                    <a:lumOff val="60000"/>
                  </a:schemeClr>
                </a:solidFill>
                <a:effectLst/>
              </a:rPr>
              <a:t>RAG</a:t>
            </a:r>
            <a:endParaRPr lang="zh-CN" altLang="en-US" sz="5400" b="1"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1884850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6B56A-BA36-94CD-2A46-6B65843F5951}"/>
            </a:ext>
          </a:extLst>
        </p:cNvPr>
        <p:cNvGrpSpPr/>
        <p:nvPr/>
      </p:nvGrpSpPr>
      <p:grpSpPr>
        <a:xfrm>
          <a:off x="0" y="0"/>
          <a:ext cx="0" cy="0"/>
          <a:chOff x="0" y="0"/>
          <a:chExt cx="0" cy="0"/>
        </a:xfrm>
      </p:grpSpPr>
      <p:sp>
        <p:nvSpPr>
          <p:cNvPr id="5" name="矩形: 对角圆角 4">
            <a:extLst>
              <a:ext uri="{FF2B5EF4-FFF2-40B4-BE49-F238E27FC236}">
                <a16:creationId xmlns:a16="http://schemas.microsoft.com/office/drawing/2014/main" id="{BB8BD05D-DB91-42D9-C65D-2BC99305DFDA}"/>
              </a:ext>
            </a:extLst>
          </p:cNvPr>
          <p:cNvSpPr/>
          <p:nvPr/>
        </p:nvSpPr>
        <p:spPr>
          <a:xfrm>
            <a:off x="233757" y="1918178"/>
            <a:ext cx="2832577" cy="4805755"/>
          </a:xfrm>
          <a:prstGeom prst="round2DiagRect">
            <a:avLst/>
          </a:prstGeom>
          <a:solidFill>
            <a:srgbClr val="6699FF"/>
          </a:solidFill>
        </p:spPr>
        <p:style>
          <a:lnRef idx="1">
            <a:schemeClr val="accent1"/>
          </a:lnRef>
          <a:fillRef idx="2">
            <a:schemeClr val="accent1"/>
          </a:fillRef>
          <a:effectRef idx="1">
            <a:schemeClr val="accent1"/>
          </a:effectRef>
          <a:fontRef idx="minor">
            <a:schemeClr val="dk1"/>
          </a:fontRef>
        </p:style>
        <p:txBody>
          <a:bodyPr rtlCol="0" anchor="ctr"/>
          <a:lstStyle/>
          <a:p>
            <a:endParaRPr lang="en-US" altLang="zh-CN" sz="1200" dirty="0">
              <a:solidFill>
                <a:schemeClr val="bg1"/>
              </a:solidFill>
              <a:latin typeface="Times New Roman" panose="02020603050405020304" pitchFamily="18" charset="0"/>
              <a:cs typeface="Times New Roman" panose="02020603050405020304" pitchFamily="18" charset="0"/>
            </a:endParaRPr>
          </a:p>
          <a:p>
            <a:endParaRPr lang="en-US" altLang="zh-CN" sz="1200" dirty="0">
              <a:solidFill>
                <a:schemeClr val="bg1"/>
              </a:solidFill>
              <a:latin typeface="Times New Roman" panose="02020603050405020304" pitchFamily="18" charset="0"/>
              <a:cs typeface="Times New Roman" panose="02020603050405020304" pitchFamily="18" charset="0"/>
            </a:endParaRPr>
          </a:p>
          <a:p>
            <a:endParaRPr lang="en-US" altLang="zh-CN" sz="1200" dirty="0">
              <a:solidFill>
                <a:schemeClr val="bg1"/>
              </a:solidFill>
              <a:latin typeface="Times New Roman" panose="02020603050405020304" pitchFamily="18" charset="0"/>
              <a:cs typeface="Times New Roman" panose="02020603050405020304" pitchFamily="18" charset="0"/>
            </a:endParaRPr>
          </a:p>
          <a:p>
            <a:r>
              <a:rPr lang="en-US" altLang="zh-CN" sz="1200" dirty="0">
                <a:solidFill>
                  <a:schemeClr val="bg1"/>
                </a:solidFill>
                <a:latin typeface="Times New Roman" panose="02020603050405020304" pitchFamily="18" charset="0"/>
                <a:cs typeface="Times New Roman" panose="02020603050405020304" pitchFamily="18" charset="0"/>
              </a:rPr>
              <a:t>When a child has tonsillitis with high fever, throat pain often makes eating difficult. The key dietary principles are </a:t>
            </a:r>
            <a:r>
              <a:rPr lang="en-US" altLang="zh-CN" sz="1200" b="1" dirty="0">
                <a:solidFill>
                  <a:schemeClr val="bg1"/>
                </a:solidFill>
                <a:latin typeface="Times New Roman" panose="02020603050405020304" pitchFamily="18" charset="0"/>
                <a:cs typeface="Times New Roman" panose="02020603050405020304" pitchFamily="18" charset="0"/>
              </a:rPr>
              <a:t>light, soft, and nutritious foods</a:t>
            </a:r>
            <a:r>
              <a:rPr lang="en-US" altLang="zh-CN" sz="1200" dirty="0">
                <a:solidFill>
                  <a:schemeClr val="bg1"/>
                </a:solidFill>
                <a:latin typeface="Times New Roman" panose="02020603050405020304" pitchFamily="18" charset="0"/>
                <a:cs typeface="Times New Roman" panose="02020603050405020304" pitchFamily="18" charset="0"/>
              </a:rPr>
              <a:t>: </a:t>
            </a:r>
            <a:r>
              <a:rPr lang="en-US" altLang="zh-CN" sz="1200" b="1" dirty="0">
                <a:solidFill>
                  <a:schemeClr val="bg1"/>
                </a:solidFill>
                <a:latin typeface="Times New Roman" panose="02020603050405020304" pitchFamily="18" charset="0"/>
                <a:cs typeface="Times New Roman" panose="02020603050405020304" pitchFamily="18" charset="0"/>
              </a:rPr>
              <a:t>Stay hydrated</a:t>
            </a:r>
            <a:r>
              <a:rPr lang="en-US" altLang="zh-CN" sz="1200" dirty="0">
                <a:solidFill>
                  <a:schemeClr val="bg1"/>
                </a:solidFill>
                <a:latin typeface="Times New Roman" panose="02020603050405020304" pitchFamily="18" charset="0"/>
                <a:cs typeface="Times New Roman" panose="02020603050405020304" pitchFamily="18" charset="0"/>
              </a:rPr>
              <a:t> – drink warm water or light saline water to help reduce fever and thin mucus. </a:t>
            </a:r>
            <a:r>
              <a:rPr lang="en-US" altLang="zh-CN" sz="1200" b="1" dirty="0">
                <a:solidFill>
                  <a:schemeClr val="bg1"/>
                </a:solidFill>
                <a:latin typeface="Times New Roman" panose="02020603050405020304" pitchFamily="18" charset="0"/>
                <a:cs typeface="Times New Roman" panose="02020603050405020304" pitchFamily="18" charset="0"/>
              </a:rPr>
              <a:t>Eat soft foods</a:t>
            </a:r>
            <a:r>
              <a:rPr lang="en-US" altLang="zh-CN" sz="1200" dirty="0">
                <a:solidFill>
                  <a:schemeClr val="bg1"/>
                </a:solidFill>
                <a:latin typeface="Times New Roman" panose="02020603050405020304" pitchFamily="18" charset="0"/>
                <a:cs typeface="Times New Roman" panose="02020603050405020304" pitchFamily="18" charset="0"/>
              </a:rPr>
              <a:t> – such as porridge, scrambled eggs, noodles, or vegetable puree to minimize throat irritation. </a:t>
            </a:r>
          </a:p>
          <a:p>
            <a:r>
              <a:rPr lang="en-US" altLang="zh-CN" sz="1200" b="1" dirty="0">
                <a:solidFill>
                  <a:schemeClr val="bg1"/>
                </a:solidFill>
                <a:latin typeface="Times New Roman" panose="02020603050405020304" pitchFamily="18" charset="0"/>
                <a:cs typeface="Times New Roman" panose="02020603050405020304" pitchFamily="18" charset="0"/>
              </a:rPr>
              <a:t>Boost vitamin intake</a:t>
            </a:r>
            <a:r>
              <a:rPr lang="en-US" altLang="zh-CN" sz="1200" dirty="0">
                <a:solidFill>
                  <a:schemeClr val="bg1"/>
                </a:solidFill>
                <a:latin typeface="Times New Roman" panose="02020603050405020304" pitchFamily="18" charset="0"/>
                <a:cs typeface="Times New Roman" panose="02020603050405020304" pitchFamily="18" charset="0"/>
              </a:rPr>
              <a:t> – especially vitamin C and B from fruits like pears, apples, and bananas. </a:t>
            </a:r>
            <a:r>
              <a:rPr lang="en-US" altLang="zh-CN" sz="1200" b="1" dirty="0">
                <a:solidFill>
                  <a:schemeClr val="bg1"/>
                </a:solidFill>
                <a:latin typeface="Times New Roman" panose="02020603050405020304" pitchFamily="18" charset="0"/>
                <a:cs typeface="Times New Roman" panose="02020603050405020304" pitchFamily="18" charset="0"/>
              </a:rPr>
              <a:t>Avoid irritants</a:t>
            </a:r>
            <a:r>
              <a:rPr lang="en-US" altLang="zh-CN" sz="1200" dirty="0">
                <a:solidFill>
                  <a:schemeClr val="bg1"/>
                </a:solidFill>
                <a:latin typeface="Times New Roman" panose="02020603050405020304" pitchFamily="18" charset="0"/>
                <a:cs typeface="Times New Roman" panose="02020603050405020304" pitchFamily="18" charset="0"/>
              </a:rPr>
              <a:t> – spicy, fried, salty, or overly sweet foods can worsen throat pain. </a:t>
            </a:r>
          </a:p>
          <a:p>
            <a:r>
              <a:rPr lang="en-US" altLang="zh-CN" sz="1200" b="1" dirty="0">
                <a:solidFill>
                  <a:schemeClr val="bg1"/>
                </a:solidFill>
                <a:latin typeface="Times New Roman" panose="02020603050405020304" pitchFamily="18" charset="0"/>
                <a:cs typeface="Times New Roman" panose="02020603050405020304" pitchFamily="18" charset="0"/>
              </a:rPr>
              <a:t>Small frequent meals</a:t>
            </a:r>
            <a:r>
              <a:rPr lang="en-US" altLang="zh-CN" sz="1200" dirty="0">
                <a:solidFill>
                  <a:schemeClr val="bg1"/>
                </a:solidFill>
                <a:latin typeface="Times New Roman" panose="02020603050405020304" pitchFamily="18" charset="0"/>
                <a:cs typeface="Times New Roman" panose="02020603050405020304" pitchFamily="18" charset="0"/>
              </a:rPr>
              <a:t> – feed in small portions if appetite is poor. </a:t>
            </a:r>
          </a:p>
          <a:p>
            <a:r>
              <a:rPr lang="en-US" altLang="zh-CN" sz="1200" dirty="0">
                <a:solidFill>
                  <a:schemeClr val="bg1"/>
                </a:solidFill>
                <a:latin typeface="Times New Roman" panose="02020603050405020304" pitchFamily="18" charset="0"/>
                <a:cs typeface="Times New Roman" panose="02020603050405020304" pitchFamily="18" charset="0"/>
              </a:rPr>
              <a:t>During recovery, gradually add </a:t>
            </a:r>
            <a:r>
              <a:rPr lang="en-US" altLang="zh-CN" sz="1200" b="1" dirty="0">
                <a:solidFill>
                  <a:schemeClr val="bg1"/>
                </a:solidFill>
                <a:latin typeface="Times New Roman" panose="02020603050405020304" pitchFamily="18" charset="0"/>
                <a:cs typeface="Times New Roman" panose="02020603050405020304" pitchFamily="18" charset="0"/>
              </a:rPr>
              <a:t>protein-rich foods</a:t>
            </a:r>
            <a:r>
              <a:rPr lang="en-US" altLang="zh-CN" sz="1200" dirty="0">
                <a:solidFill>
                  <a:schemeClr val="bg1"/>
                </a:solidFill>
                <a:latin typeface="Times New Roman" panose="02020603050405020304" pitchFamily="18" charset="0"/>
                <a:cs typeface="Times New Roman" panose="02020603050405020304" pitchFamily="18" charset="0"/>
              </a:rPr>
              <a:t> (lean meat, tofu, fish) to promote tissue repair and strengthen immunity.</a:t>
            </a:r>
            <a:endParaRPr lang="zh-CN" altLang="zh-CN" sz="1200" dirty="0">
              <a:solidFill>
                <a:schemeClr val="bg1"/>
              </a:solidFill>
              <a:latin typeface="Times New Roman" panose="02020603050405020304" pitchFamily="18" charset="0"/>
              <a:cs typeface="Times New Roman" panose="02020603050405020304" pitchFamily="18" charset="0"/>
            </a:endParaRPr>
          </a:p>
        </p:txBody>
      </p:sp>
      <p:sp>
        <p:nvSpPr>
          <p:cNvPr id="12" name="矩形: 对角圆角 11">
            <a:extLst>
              <a:ext uri="{FF2B5EF4-FFF2-40B4-BE49-F238E27FC236}">
                <a16:creationId xmlns:a16="http://schemas.microsoft.com/office/drawing/2014/main" id="{C526E5B5-CC99-6EDC-3EEB-72EC8F3795AB}"/>
              </a:ext>
            </a:extLst>
          </p:cNvPr>
          <p:cNvSpPr/>
          <p:nvPr/>
        </p:nvSpPr>
        <p:spPr>
          <a:xfrm>
            <a:off x="6079062" y="1918178"/>
            <a:ext cx="2893314" cy="4805755"/>
          </a:xfrm>
          <a:prstGeom prst="round2DiagRect">
            <a:avLst/>
          </a:prstGeom>
          <a:solidFill>
            <a:srgbClr val="6699FF"/>
          </a:solidFill>
        </p:spPr>
        <p:style>
          <a:lnRef idx="1">
            <a:schemeClr val="accent1"/>
          </a:lnRef>
          <a:fillRef idx="2">
            <a:schemeClr val="accent1"/>
          </a:fillRef>
          <a:effectRef idx="1">
            <a:schemeClr val="accent1"/>
          </a:effectRef>
          <a:fontRef idx="minor">
            <a:schemeClr val="dk1"/>
          </a:fontRef>
        </p:style>
        <p:txBody>
          <a:bodyPr rtlCol="0" anchor="ctr"/>
          <a:lstStyle/>
          <a:p>
            <a:endParaRPr lang="en-US" altLang="zh-CN" sz="1100" dirty="0">
              <a:solidFill>
                <a:schemeClr val="bg1"/>
              </a:solidFill>
              <a:latin typeface="Times New Roman" panose="02020603050405020304" pitchFamily="18" charset="0"/>
              <a:cs typeface="Times New Roman" panose="02020603050405020304" pitchFamily="18" charset="0"/>
            </a:endParaRPr>
          </a:p>
          <a:p>
            <a:endParaRPr lang="en-US" altLang="zh-CN" sz="1100" dirty="0">
              <a:solidFill>
                <a:schemeClr val="bg1"/>
              </a:solidFill>
              <a:latin typeface="Times New Roman" panose="02020603050405020304" pitchFamily="18" charset="0"/>
              <a:cs typeface="Times New Roman" panose="02020603050405020304" pitchFamily="18" charset="0"/>
            </a:endParaRPr>
          </a:p>
          <a:p>
            <a:r>
              <a:rPr lang="en-US" altLang="zh-CN" sz="1100" dirty="0">
                <a:solidFill>
                  <a:schemeClr val="bg1"/>
                </a:solidFill>
                <a:latin typeface="Times New Roman" panose="02020603050405020304" pitchFamily="18" charset="0"/>
                <a:cs typeface="Times New Roman" panose="02020603050405020304" pitchFamily="18" charset="0"/>
              </a:rPr>
              <a:t>When a child has tonsillitis with persistent high fever, the diet should follow the principles of "light, liquid/semi-liquid, easy to swallow, and nutrient-supplementing". Specific precautions and recommended foods are as follows:</a:t>
            </a:r>
            <a:endParaRPr lang="zh-CN" altLang="zh-CN" sz="1100" dirty="0">
              <a:solidFill>
                <a:schemeClr val="bg1"/>
              </a:solidFill>
              <a:latin typeface="Times New Roman" panose="02020603050405020304" pitchFamily="18" charset="0"/>
              <a:cs typeface="Times New Roman" panose="02020603050405020304" pitchFamily="18" charset="0"/>
            </a:endParaRPr>
          </a:p>
          <a:p>
            <a:pPr lvl="0"/>
            <a:r>
              <a:rPr lang="en-US" altLang="zh-CN" sz="1100" b="1" dirty="0">
                <a:solidFill>
                  <a:schemeClr val="bg1"/>
                </a:solidFill>
                <a:latin typeface="Times New Roman" panose="02020603050405020304" pitchFamily="18" charset="0"/>
                <a:cs typeface="Times New Roman" panose="02020603050405020304" pitchFamily="18" charset="0"/>
              </a:rPr>
              <a:t>Dietary principles</a:t>
            </a:r>
            <a:r>
              <a:rPr lang="en-US" altLang="zh-CN" sz="1100" dirty="0">
                <a:solidFill>
                  <a:schemeClr val="bg1"/>
                </a:solidFill>
                <a:latin typeface="Times New Roman" panose="02020603050405020304" pitchFamily="18" charset="0"/>
                <a:cs typeface="Times New Roman" panose="02020603050405020304" pitchFamily="18" charset="0"/>
              </a:rPr>
              <a:t>: Avoid spicy, overheated, and hard foods (such as chili, hot soup, nuts) to reduce throat irritation; feed small amounts multiple times to prevent the child from refusing to eat due to swallowing pain; ensure adequate fluid intake to prevent dehydration.</a:t>
            </a:r>
            <a:endParaRPr lang="zh-CN" altLang="zh-CN" sz="1100" dirty="0">
              <a:solidFill>
                <a:schemeClr val="bg1"/>
              </a:solidFill>
              <a:latin typeface="Times New Roman" panose="02020603050405020304" pitchFamily="18" charset="0"/>
              <a:cs typeface="Times New Roman" panose="02020603050405020304" pitchFamily="18" charset="0"/>
            </a:endParaRPr>
          </a:p>
          <a:p>
            <a:pPr lvl="0"/>
            <a:r>
              <a:rPr lang="en-US" altLang="zh-CN" sz="1100" b="1" dirty="0">
                <a:solidFill>
                  <a:schemeClr val="bg1"/>
                </a:solidFill>
                <a:latin typeface="Times New Roman" panose="02020603050405020304" pitchFamily="18" charset="0"/>
                <a:cs typeface="Times New Roman" panose="02020603050405020304" pitchFamily="18" charset="0"/>
              </a:rPr>
              <a:t>Recommended foods</a:t>
            </a:r>
            <a:r>
              <a:rPr lang="en-US" altLang="zh-CN" sz="1100" dirty="0">
                <a:solidFill>
                  <a:schemeClr val="bg1"/>
                </a:solidFill>
                <a:latin typeface="Times New Roman" panose="02020603050405020304" pitchFamily="18" charset="0"/>
                <a:cs typeface="Times New Roman" panose="02020603050405020304" pitchFamily="18" charset="0"/>
              </a:rPr>
              <a:t>: Prioritize cool or warm liquid/semi-liquid foods, such as millet porridge, pumpkin porridge, and vegetable puree; steamed egg custard and tofu pudding can also be eaten to supplement protein; for fruits, choose soft and mild ones like bananas and apple puree, or make them into cool/warm fruit juices (avoid acidic citrus fruits).</a:t>
            </a:r>
            <a:endParaRPr lang="zh-CN" altLang="zh-CN" sz="1100" dirty="0">
              <a:solidFill>
                <a:schemeClr val="bg1"/>
              </a:solidFill>
              <a:latin typeface="Times New Roman" panose="02020603050405020304" pitchFamily="18" charset="0"/>
              <a:cs typeface="Times New Roman" panose="02020603050405020304" pitchFamily="18" charset="0"/>
            </a:endParaRPr>
          </a:p>
        </p:txBody>
      </p:sp>
      <p:sp>
        <p:nvSpPr>
          <p:cNvPr id="13" name="矩形: 对角圆角 12">
            <a:extLst>
              <a:ext uri="{FF2B5EF4-FFF2-40B4-BE49-F238E27FC236}">
                <a16:creationId xmlns:a16="http://schemas.microsoft.com/office/drawing/2014/main" id="{5D08A38B-51EF-019F-7FCA-408A69CBD5D6}"/>
              </a:ext>
            </a:extLst>
          </p:cNvPr>
          <p:cNvSpPr/>
          <p:nvPr/>
        </p:nvSpPr>
        <p:spPr>
          <a:xfrm>
            <a:off x="3126041" y="1918178"/>
            <a:ext cx="2893314" cy="4805755"/>
          </a:xfrm>
          <a:prstGeom prst="round2DiagRect">
            <a:avLst/>
          </a:prstGeom>
          <a:solidFill>
            <a:srgbClr val="6699FF"/>
          </a:solidFill>
        </p:spPr>
        <p:style>
          <a:lnRef idx="1">
            <a:schemeClr val="accent1"/>
          </a:lnRef>
          <a:fillRef idx="2">
            <a:schemeClr val="accent1"/>
          </a:fillRef>
          <a:effectRef idx="1">
            <a:schemeClr val="accent1"/>
          </a:effectRef>
          <a:fontRef idx="minor">
            <a:schemeClr val="dk1"/>
          </a:fontRef>
        </p:style>
        <p:txBody>
          <a:bodyPr rtlCol="0" anchor="ctr"/>
          <a:lstStyle/>
          <a:p>
            <a:endParaRPr lang="en-US" altLang="zh-CN" sz="1200" dirty="0">
              <a:solidFill>
                <a:schemeClr val="bg1"/>
              </a:solidFill>
              <a:latin typeface="Times New Roman" panose="02020603050405020304" pitchFamily="18" charset="0"/>
              <a:cs typeface="Times New Roman" panose="02020603050405020304" pitchFamily="18" charset="0"/>
            </a:endParaRPr>
          </a:p>
          <a:p>
            <a:endParaRPr lang="en-US" altLang="zh-CN" sz="1200" dirty="0">
              <a:solidFill>
                <a:schemeClr val="bg1"/>
              </a:solidFill>
              <a:latin typeface="Times New Roman" panose="02020603050405020304" pitchFamily="18" charset="0"/>
              <a:cs typeface="Times New Roman" panose="02020603050405020304" pitchFamily="18" charset="0"/>
            </a:endParaRPr>
          </a:p>
          <a:p>
            <a:endParaRPr lang="en-US" altLang="zh-CN" sz="1200" dirty="0">
              <a:solidFill>
                <a:schemeClr val="bg1"/>
              </a:solidFill>
              <a:latin typeface="Times New Roman" panose="02020603050405020304" pitchFamily="18" charset="0"/>
              <a:cs typeface="Times New Roman" panose="02020603050405020304" pitchFamily="18" charset="0"/>
            </a:endParaRPr>
          </a:p>
          <a:p>
            <a:r>
              <a:rPr lang="en-US" altLang="zh-CN" sz="1200" dirty="0">
                <a:solidFill>
                  <a:schemeClr val="bg1"/>
                </a:solidFill>
                <a:latin typeface="Times New Roman" panose="02020603050405020304" pitchFamily="18" charset="0"/>
                <a:cs typeface="Times New Roman" panose="02020603050405020304" pitchFamily="18" charset="0"/>
              </a:rPr>
              <a:t>When a child has tonsillitis with fever, the core dietary principles are </a:t>
            </a:r>
            <a:r>
              <a:rPr lang="en-US" altLang="zh-CN" sz="1200" b="1" dirty="0">
                <a:solidFill>
                  <a:schemeClr val="bg1"/>
                </a:solidFill>
                <a:latin typeface="Times New Roman" panose="02020603050405020304" pitchFamily="18" charset="0"/>
                <a:cs typeface="Times New Roman" panose="02020603050405020304" pitchFamily="18" charset="0"/>
              </a:rPr>
              <a:t>mild, soft, moist, and easy-to-swallow</a:t>
            </a:r>
            <a:r>
              <a:rPr lang="en-US" altLang="zh-CN" sz="1200" dirty="0">
                <a:solidFill>
                  <a:schemeClr val="bg1"/>
                </a:solidFill>
                <a:latin typeface="Times New Roman" panose="02020603050405020304" pitchFamily="18" charset="0"/>
                <a:cs typeface="Times New Roman" panose="02020603050405020304" pitchFamily="18" charset="0"/>
              </a:rPr>
              <a:t> foods to soothe the throat. </a:t>
            </a:r>
            <a:r>
              <a:rPr lang="en-US" altLang="zh-CN" sz="1200" b="1" dirty="0">
                <a:solidFill>
                  <a:schemeClr val="bg1"/>
                </a:solidFill>
                <a:latin typeface="Times New Roman" panose="02020603050405020304" pitchFamily="18" charset="0"/>
                <a:cs typeface="Times New Roman" panose="02020603050405020304" pitchFamily="18" charset="0"/>
              </a:rPr>
              <a:t>Recommended:</a:t>
            </a:r>
            <a:endParaRPr lang="zh-CN" altLang="zh-CN" sz="1200" dirty="0">
              <a:solidFill>
                <a:schemeClr val="bg1"/>
              </a:solidFill>
              <a:latin typeface="Times New Roman" panose="02020603050405020304" pitchFamily="18" charset="0"/>
              <a:cs typeface="Times New Roman" panose="02020603050405020304" pitchFamily="18" charset="0"/>
            </a:endParaRPr>
          </a:p>
          <a:p>
            <a:pPr lvl="0"/>
            <a:r>
              <a:rPr lang="en-US" altLang="zh-CN" sz="1200" b="1" dirty="0">
                <a:solidFill>
                  <a:schemeClr val="bg1"/>
                </a:solidFill>
                <a:latin typeface="Times New Roman" panose="02020603050405020304" pitchFamily="18" charset="0"/>
                <a:cs typeface="Times New Roman" panose="02020603050405020304" pitchFamily="18" charset="0"/>
              </a:rPr>
              <a:t>Liquid/Semi-liquid</a:t>
            </a:r>
            <a:r>
              <a:rPr lang="en-US" altLang="zh-CN" sz="1200" dirty="0">
                <a:solidFill>
                  <a:schemeClr val="bg1"/>
                </a:solidFill>
                <a:latin typeface="Times New Roman" panose="02020603050405020304" pitchFamily="18" charset="0"/>
                <a:cs typeface="Times New Roman" panose="02020603050405020304" pitchFamily="18" charset="0"/>
              </a:rPr>
              <a:t>: Cool or warm porridge, well-cooked noodles, pureed vegetables, steamed egg custard.</a:t>
            </a:r>
            <a:endParaRPr lang="zh-CN" altLang="zh-CN" sz="1200" dirty="0">
              <a:solidFill>
                <a:schemeClr val="bg1"/>
              </a:solidFill>
              <a:latin typeface="Times New Roman" panose="02020603050405020304" pitchFamily="18" charset="0"/>
              <a:cs typeface="Times New Roman" panose="02020603050405020304" pitchFamily="18" charset="0"/>
            </a:endParaRPr>
          </a:p>
          <a:p>
            <a:pPr lvl="0"/>
            <a:r>
              <a:rPr lang="en-US" altLang="zh-CN" sz="1200" b="1" dirty="0">
                <a:solidFill>
                  <a:schemeClr val="bg1"/>
                </a:solidFill>
                <a:latin typeface="Times New Roman" panose="02020603050405020304" pitchFamily="18" charset="0"/>
                <a:cs typeface="Times New Roman" panose="02020603050405020304" pitchFamily="18" charset="0"/>
              </a:rPr>
              <a:t>Soothing Drinks</a:t>
            </a:r>
            <a:r>
              <a:rPr lang="en-US" altLang="zh-CN" sz="1200" dirty="0">
                <a:solidFill>
                  <a:schemeClr val="bg1"/>
                </a:solidFill>
                <a:latin typeface="Times New Roman" panose="02020603050405020304" pitchFamily="18" charset="0"/>
                <a:cs typeface="Times New Roman" panose="02020603050405020304" pitchFamily="18" charset="0"/>
              </a:rPr>
              <a:t>: Warm water, diluted non-acidic fruit juice, honey lemon water (for children over 1).</a:t>
            </a:r>
            <a:endParaRPr lang="zh-CN" altLang="zh-CN" sz="1200" dirty="0">
              <a:solidFill>
                <a:schemeClr val="bg1"/>
              </a:solidFill>
              <a:latin typeface="Times New Roman" panose="02020603050405020304" pitchFamily="18" charset="0"/>
              <a:cs typeface="Times New Roman" panose="02020603050405020304" pitchFamily="18" charset="0"/>
            </a:endParaRPr>
          </a:p>
          <a:p>
            <a:pPr lvl="0"/>
            <a:r>
              <a:rPr lang="en-US" altLang="zh-CN" sz="1200" b="1" dirty="0">
                <a:solidFill>
                  <a:schemeClr val="bg1"/>
                </a:solidFill>
                <a:latin typeface="Times New Roman" panose="02020603050405020304" pitchFamily="18" charset="0"/>
                <a:cs typeface="Times New Roman" panose="02020603050405020304" pitchFamily="18" charset="0"/>
              </a:rPr>
              <a:t>Nutritious Soft Foods</a:t>
            </a:r>
            <a:r>
              <a:rPr lang="en-US" altLang="zh-CN" sz="1200" dirty="0">
                <a:solidFill>
                  <a:schemeClr val="bg1"/>
                </a:solidFill>
                <a:latin typeface="Times New Roman" panose="02020603050405020304" pitchFamily="18" charset="0"/>
                <a:cs typeface="Times New Roman" panose="02020603050405020304" pitchFamily="18" charset="0"/>
              </a:rPr>
              <a:t>: Yogurt, tofu pudding, mashed banana.</a:t>
            </a:r>
            <a:endParaRPr lang="zh-CN" altLang="zh-CN" sz="1200" dirty="0">
              <a:solidFill>
                <a:schemeClr val="bg1"/>
              </a:solidFill>
              <a:latin typeface="Times New Roman" panose="02020603050405020304" pitchFamily="18" charset="0"/>
              <a:cs typeface="Times New Roman" panose="02020603050405020304" pitchFamily="18" charset="0"/>
            </a:endParaRPr>
          </a:p>
          <a:p>
            <a:r>
              <a:rPr lang="en-US" altLang="zh-CN" sz="1200" b="1" dirty="0">
                <a:solidFill>
                  <a:schemeClr val="bg1"/>
                </a:solidFill>
                <a:latin typeface="Times New Roman" panose="02020603050405020304" pitchFamily="18" charset="0"/>
                <a:cs typeface="Times New Roman" panose="02020603050405020304" pitchFamily="18" charset="0"/>
              </a:rPr>
              <a:t>Avoid:</a:t>
            </a:r>
            <a:r>
              <a:rPr lang="en-US" altLang="zh-CN" sz="1200" dirty="0">
                <a:solidFill>
                  <a:schemeClr val="bg1"/>
                </a:solidFill>
                <a:latin typeface="Times New Roman" panose="02020603050405020304" pitchFamily="18" charset="0"/>
                <a:cs typeface="Times New Roman" panose="02020603050405020304" pitchFamily="18" charset="0"/>
              </a:rPr>
              <a:t> </a:t>
            </a:r>
            <a:r>
              <a:rPr lang="en-US" altLang="zh-CN" sz="1200" b="1" dirty="0">
                <a:solidFill>
                  <a:schemeClr val="bg1"/>
                </a:solidFill>
                <a:latin typeface="Times New Roman" panose="02020603050405020304" pitchFamily="18" charset="0"/>
                <a:cs typeface="Times New Roman" panose="02020603050405020304" pitchFamily="18" charset="0"/>
              </a:rPr>
              <a:t>Irritants</a:t>
            </a:r>
            <a:r>
              <a:rPr lang="en-US" altLang="zh-CN" sz="1200" dirty="0">
                <a:solidFill>
                  <a:schemeClr val="bg1"/>
                </a:solidFill>
                <a:latin typeface="Times New Roman" panose="02020603050405020304" pitchFamily="18" charset="0"/>
                <a:cs typeface="Times New Roman" panose="02020603050405020304" pitchFamily="18" charset="0"/>
              </a:rPr>
              <a:t>: Spicy, very hot, or hard foods (e.g., chips).</a:t>
            </a:r>
            <a:endParaRPr lang="zh-CN" altLang="zh-CN" sz="1200" dirty="0">
              <a:solidFill>
                <a:schemeClr val="bg1"/>
              </a:solidFill>
              <a:latin typeface="Times New Roman" panose="02020603050405020304" pitchFamily="18" charset="0"/>
              <a:cs typeface="Times New Roman" panose="02020603050405020304" pitchFamily="18" charset="0"/>
            </a:endParaRPr>
          </a:p>
          <a:p>
            <a:pPr lvl="0"/>
            <a:r>
              <a:rPr lang="en-US" altLang="zh-CN" sz="1200" b="1" dirty="0">
                <a:solidFill>
                  <a:schemeClr val="bg1"/>
                </a:solidFill>
                <a:latin typeface="Times New Roman" panose="02020603050405020304" pitchFamily="18" charset="0"/>
                <a:cs typeface="Times New Roman" panose="02020603050405020304" pitchFamily="18" charset="0"/>
              </a:rPr>
              <a:t>Acidic or Fibrous</a:t>
            </a:r>
            <a:r>
              <a:rPr lang="en-US" altLang="zh-CN" sz="1200" dirty="0">
                <a:solidFill>
                  <a:schemeClr val="bg1"/>
                </a:solidFill>
                <a:latin typeface="Times New Roman" panose="02020603050405020304" pitchFamily="18" charset="0"/>
                <a:cs typeface="Times New Roman" panose="02020603050405020304" pitchFamily="18" charset="0"/>
              </a:rPr>
              <a:t>: Orange juice, tomatoes, and coarse vegetables may increase pain. </a:t>
            </a:r>
            <a:r>
              <a:rPr lang="en-US" altLang="zh-CN" sz="1200" b="1" dirty="0">
                <a:solidFill>
                  <a:schemeClr val="bg1"/>
                </a:solidFill>
                <a:latin typeface="Times New Roman" panose="02020603050405020304" pitchFamily="18" charset="0"/>
                <a:cs typeface="Times New Roman" panose="02020603050405020304" pitchFamily="18" charset="0"/>
              </a:rPr>
              <a:t>Key Advice</a:t>
            </a:r>
            <a:r>
              <a:rPr lang="en-US" altLang="zh-CN" sz="1200" dirty="0">
                <a:solidFill>
                  <a:schemeClr val="bg1"/>
                </a:solidFill>
                <a:latin typeface="Times New Roman" panose="02020603050405020304" pitchFamily="18" charset="0"/>
                <a:cs typeface="Times New Roman" panose="02020603050405020304" pitchFamily="18" charset="0"/>
              </a:rPr>
              <a:t>: Ensure fluid intake to prevent dehydration and follow medication instructions. Seek immediate care if the child cannot eat/drink or is very lethargic.</a:t>
            </a:r>
            <a:endParaRPr lang="zh-CN" altLang="zh-CN" sz="1200" dirty="0">
              <a:solidFill>
                <a:schemeClr val="bg1"/>
              </a:solidFill>
              <a:latin typeface="Times New Roman" panose="02020603050405020304" pitchFamily="18" charset="0"/>
              <a:cs typeface="Times New Roman" panose="02020603050405020304" pitchFamily="18" charset="0"/>
            </a:endParaRPr>
          </a:p>
        </p:txBody>
      </p:sp>
      <p:sp>
        <p:nvSpPr>
          <p:cNvPr id="14" name="矩形: 对角圆角 13">
            <a:extLst>
              <a:ext uri="{FF2B5EF4-FFF2-40B4-BE49-F238E27FC236}">
                <a16:creationId xmlns:a16="http://schemas.microsoft.com/office/drawing/2014/main" id="{ECD6314A-7DDA-1249-6379-AC5AE09AD388}"/>
              </a:ext>
            </a:extLst>
          </p:cNvPr>
          <p:cNvSpPr/>
          <p:nvPr/>
        </p:nvSpPr>
        <p:spPr>
          <a:xfrm>
            <a:off x="9032084" y="1918178"/>
            <a:ext cx="2893314" cy="4805755"/>
          </a:xfrm>
          <a:prstGeom prst="round2DiagRect">
            <a:avLst/>
          </a:prstGeom>
          <a:solidFill>
            <a:srgbClr val="6699FF"/>
          </a:solidFill>
        </p:spPr>
        <p:style>
          <a:lnRef idx="1">
            <a:schemeClr val="accent1"/>
          </a:lnRef>
          <a:fillRef idx="2">
            <a:schemeClr val="accent1"/>
          </a:fillRef>
          <a:effectRef idx="1">
            <a:schemeClr val="accent1"/>
          </a:effectRef>
          <a:fontRef idx="minor">
            <a:schemeClr val="dk1"/>
          </a:fontRef>
        </p:style>
        <p:txBody>
          <a:bodyPr rtlCol="0" anchor="ctr"/>
          <a:lstStyle/>
          <a:p>
            <a:endParaRPr lang="en-US" altLang="zh-CN" sz="1100" dirty="0">
              <a:solidFill>
                <a:schemeClr val="bg1"/>
              </a:solidFill>
            </a:endParaRPr>
          </a:p>
          <a:p>
            <a:endParaRPr lang="en-US" altLang="zh-CN" sz="1100" dirty="0">
              <a:solidFill>
                <a:schemeClr val="bg1"/>
              </a:solidFill>
            </a:endParaRPr>
          </a:p>
          <a:p>
            <a:endParaRPr lang="en-US" altLang="zh-CN" sz="1100" dirty="0">
              <a:solidFill>
                <a:schemeClr val="bg1"/>
              </a:solidFill>
            </a:endParaRPr>
          </a:p>
          <a:p>
            <a:r>
              <a:rPr lang="en-US" altLang="zh-CN" sz="1400" dirty="0">
                <a:solidFill>
                  <a:schemeClr val="bg1"/>
                </a:solidFill>
              </a:rPr>
              <a:t>For children with tonsillitis and high fever, it's essential to follow certain dietary principles. Choose easily digestible, bland foods rich in vitamins and minerals. Fresh fruits like pears, watermelons, and oranges are good options. Leafy green vegetables and tomatoes are also suitable. </a:t>
            </a:r>
            <a:r>
              <a:rPr lang="en-US" altLang="zh-CN" sz="1400" dirty="0" err="1">
                <a:solidFill>
                  <a:schemeClr val="bg1"/>
                </a:solidFill>
              </a:rPr>
              <a:t>Opt</a:t>
            </a:r>
            <a:r>
              <a:rPr lang="en-US" altLang="zh-CN" sz="1400" dirty="0">
                <a:solidFill>
                  <a:schemeClr val="bg1"/>
                </a:solidFill>
              </a:rPr>
              <a:t> for thin soups that are easy to digest. Avoid giving your child spicy or irritating food, such as meat, seafood, and dairy products, which may exacerbate symptoms. Encourage healthy eating habits and ensure proper nutrition absorption by avoiding picky eating.</a:t>
            </a:r>
            <a:endParaRPr lang="zh-CN" altLang="zh-CN" sz="1400" dirty="0">
              <a:solidFill>
                <a:schemeClr val="bg1"/>
              </a:solidFill>
            </a:endParaRPr>
          </a:p>
        </p:txBody>
      </p:sp>
      <p:sp>
        <p:nvSpPr>
          <p:cNvPr id="15" name="文本框 14">
            <a:extLst>
              <a:ext uri="{FF2B5EF4-FFF2-40B4-BE49-F238E27FC236}">
                <a16:creationId xmlns:a16="http://schemas.microsoft.com/office/drawing/2014/main" id="{7494EA40-8A50-1CE4-5AC2-61DF5E5120ED}"/>
              </a:ext>
            </a:extLst>
          </p:cNvPr>
          <p:cNvSpPr txBox="1"/>
          <p:nvPr/>
        </p:nvSpPr>
        <p:spPr>
          <a:xfrm>
            <a:off x="375843" y="348518"/>
            <a:ext cx="11440314" cy="1692771"/>
          </a:xfrm>
          <a:prstGeom prst="rect">
            <a:avLst/>
          </a:prstGeom>
          <a:noFill/>
        </p:spPr>
        <p:txBody>
          <a:bodyPr wrap="square" rtlCol="0">
            <a:spAutoFit/>
          </a:bodyPr>
          <a:lstStyle/>
          <a:p>
            <a:r>
              <a:rPr lang="en-US" altLang="zh-CN" sz="3200" b="1" dirty="0">
                <a:latin typeface="Times New Roman" panose="02020603050405020304" pitchFamily="18" charset="0"/>
                <a:cs typeface="Times New Roman" panose="02020603050405020304" pitchFamily="18" charset="0"/>
              </a:rPr>
              <a:t>Question</a:t>
            </a:r>
            <a:r>
              <a:rPr lang="en-US" altLang="zh-CN" sz="2800" b="1" dirty="0">
                <a:latin typeface="Times New Roman" panose="02020603050405020304" pitchFamily="18" charset="0"/>
                <a:cs typeface="Times New Roman" panose="02020603050405020304" pitchFamily="18" charset="0"/>
              </a:rPr>
              <a:t>: </a:t>
            </a:r>
          </a:p>
          <a:p>
            <a:r>
              <a:rPr lang="en-US" altLang="zh-CN" sz="2400" b="1" dirty="0">
                <a:latin typeface="Times New Roman" panose="02020603050405020304" pitchFamily="18" charset="0"/>
                <a:cs typeface="Times New Roman" panose="02020603050405020304" pitchFamily="18" charset="0"/>
              </a:rPr>
              <a:t>My child has tonsillitis and a persistent high fever, and is having trouble eating. What dietary guidelines should he follow? What foods can help with recovery?</a:t>
            </a:r>
            <a:endParaRPr lang="zh-CN" altLang="zh-CN" sz="2400" b="1" dirty="0">
              <a:latin typeface="Times New Roman" panose="02020603050405020304" pitchFamily="18" charset="0"/>
              <a:cs typeface="Times New Roman" panose="02020603050405020304" pitchFamily="18" charset="0"/>
            </a:endParaRPr>
          </a:p>
          <a:p>
            <a:endParaRPr lang="zh-CN" altLang="en-US" sz="2400" dirty="0">
              <a:latin typeface="Times New Roman" panose="02020603050405020304" pitchFamily="18" charset="0"/>
              <a:cs typeface="Times New Roman" panose="02020603050405020304" pitchFamily="18" charset="0"/>
            </a:endParaRPr>
          </a:p>
        </p:txBody>
      </p:sp>
      <p:pic>
        <p:nvPicPr>
          <p:cNvPr id="1026" name="Picture 2" descr="ChatGPT - Wikipedia">
            <a:extLst>
              <a:ext uri="{FF2B5EF4-FFF2-40B4-BE49-F238E27FC236}">
                <a16:creationId xmlns:a16="http://schemas.microsoft.com/office/drawing/2014/main" id="{E54159C8-6369-2374-93C3-AC649D5F8F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1940" y="1966305"/>
            <a:ext cx="646267" cy="64626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eepSeek - Desktop App for Mac, Windows (PC) - WebCatalog">
            <a:extLst>
              <a:ext uri="{FF2B5EF4-FFF2-40B4-BE49-F238E27FC236}">
                <a16:creationId xmlns:a16="http://schemas.microsoft.com/office/drawing/2014/main" id="{CE05D08E-9E40-3C8D-A9CC-8989C79E98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1395" y="1966305"/>
            <a:ext cx="646269" cy="64626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豆包- 字节跳动旗下AI 智能助手">
            <a:extLst>
              <a:ext uri="{FF2B5EF4-FFF2-40B4-BE49-F238E27FC236}">
                <a16:creationId xmlns:a16="http://schemas.microsoft.com/office/drawing/2014/main" id="{5B3E6DDF-29D3-AD98-D4E7-25526F27B4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69139" y="1966305"/>
            <a:ext cx="646267" cy="646267"/>
          </a:xfrm>
          <a:prstGeom prst="rect">
            <a:avLst/>
          </a:prstGeom>
          <a:noFill/>
          <a:extLst>
            <a:ext uri="{909E8E84-426E-40DD-AFC4-6F175D3DCCD1}">
              <a14:hiddenFill xmlns:a14="http://schemas.microsoft.com/office/drawing/2010/main">
                <a:solidFill>
                  <a:srgbClr val="FFFFFF"/>
                </a:solidFill>
              </a14:hiddenFill>
            </a:ext>
          </a:extLst>
        </p:spPr>
      </p:pic>
      <p:sp>
        <p:nvSpPr>
          <p:cNvPr id="16" name="矩形 15">
            <a:extLst>
              <a:ext uri="{FF2B5EF4-FFF2-40B4-BE49-F238E27FC236}">
                <a16:creationId xmlns:a16="http://schemas.microsoft.com/office/drawing/2014/main" id="{3B46E802-424C-145C-30C6-8CC70DDC1C00}"/>
              </a:ext>
            </a:extLst>
          </p:cNvPr>
          <p:cNvSpPr/>
          <p:nvPr/>
        </p:nvSpPr>
        <p:spPr>
          <a:xfrm>
            <a:off x="10712970" y="2004086"/>
            <a:ext cx="1103187" cy="646331"/>
          </a:xfrm>
          <a:prstGeom prst="rect">
            <a:avLst/>
          </a:prstGeom>
          <a:noFill/>
        </p:spPr>
        <p:txBody>
          <a:bodyPr wrap="none" lIns="91440" tIns="45720" rIns="91440" bIns="45720">
            <a:spAutoFit/>
          </a:bodyPr>
          <a:lstStyle/>
          <a:p>
            <a:pPr algn="ctr"/>
            <a:r>
              <a:rPr lang="en-US" altLang="zh-CN" sz="3600" b="1" cap="none" spc="0" dirty="0">
                <a:ln w="22225">
                  <a:solidFill>
                    <a:schemeClr val="accent2"/>
                  </a:solidFill>
                  <a:prstDash val="solid"/>
                </a:ln>
                <a:solidFill>
                  <a:schemeClr val="accent2">
                    <a:lumMod val="40000"/>
                    <a:lumOff val="60000"/>
                  </a:schemeClr>
                </a:solidFill>
                <a:effectLst/>
              </a:rPr>
              <a:t>RAG</a:t>
            </a:r>
            <a:endParaRPr lang="zh-CN" altLang="en-US" sz="5400" b="1"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211136915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1180</Words>
  <Application>Microsoft Office PowerPoint</Application>
  <PresentationFormat>宽屏</PresentationFormat>
  <Paragraphs>62</Paragraphs>
  <Slides>2</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vt:i4>
      </vt:variant>
    </vt:vector>
  </HeadingPairs>
  <TitlesOfParts>
    <vt:vector size="7" baseType="lpstr">
      <vt:lpstr>等线</vt:lpstr>
      <vt:lpstr>等线 Light</vt:lpstr>
      <vt:lpstr>Arial</vt:lpstr>
      <vt:lpstr>Times New Roman</vt:lpstr>
      <vt:lpstr>Office 主题​​</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Guanlin Li</dc:creator>
  <cp:lastModifiedBy>Guanlin Li</cp:lastModifiedBy>
  <cp:revision>2</cp:revision>
  <dcterms:created xsi:type="dcterms:W3CDTF">2025-11-03T09:10:05Z</dcterms:created>
  <dcterms:modified xsi:type="dcterms:W3CDTF">2025-11-03T09:31:55Z</dcterms:modified>
</cp:coreProperties>
</file>