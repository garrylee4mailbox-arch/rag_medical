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45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89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13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88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21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57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02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58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84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7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73A20-2288-493A-A100-58172D606DE7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C4674-B1C4-494B-A426-7B071E54D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29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jp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76382D2-7554-574F-C8BA-10F1F3EF7A87}"/>
              </a:ext>
            </a:extLst>
          </p:cNvPr>
          <p:cNvCxnSpPr>
            <a:cxnSpLocks/>
            <a:stCxn id="4" idx="0"/>
            <a:endCxn id="54" idx="4"/>
          </p:cNvCxnSpPr>
          <p:nvPr/>
        </p:nvCxnSpPr>
        <p:spPr>
          <a:xfrm flipH="1" flipV="1">
            <a:off x="800429" y="4279387"/>
            <a:ext cx="1480778" cy="317929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8FC5D807-F875-AEE6-A673-E8A1F9A53BCC}"/>
              </a:ext>
            </a:extLst>
          </p:cNvPr>
          <p:cNvGrpSpPr/>
          <p:nvPr/>
        </p:nvGrpSpPr>
        <p:grpSpPr>
          <a:xfrm>
            <a:off x="441081" y="3654368"/>
            <a:ext cx="686389" cy="625019"/>
            <a:chOff x="790318" y="2898751"/>
            <a:chExt cx="686389" cy="625019"/>
          </a:xfrm>
        </p:grpSpPr>
        <p:sp>
          <p:nvSpPr>
            <p:cNvPr id="54" name="流程图: 接点 53">
              <a:extLst>
                <a:ext uri="{FF2B5EF4-FFF2-40B4-BE49-F238E27FC236}">
                  <a16:creationId xmlns:a16="http://schemas.microsoft.com/office/drawing/2014/main" id="{B532181C-D042-A5E0-1F34-C717BFE51D14}"/>
                </a:ext>
              </a:extLst>
            </p:cNvPr>
            <p:cNvSpPr/>
            <p:nvPr/>
          </p:nvSpPr>
          <p:spPr>
            <a:xfrm>
              <a:off x="822625" y="2898751"/>
              <a:ext cx="654082" cy="6250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094B8E7C-D8E4-3652-2CBD-57DE12DD9EF4}"/>
                </a:ext>
              </a:extLst>
            </p:cNvPr>
            <p:cNvSpPr txBox="1"/>
            <p:nvPr/>
          </p:nvSpPr>
          <p:spPr>
            <a:xfrm>
              <a:off x="790318" y="3078952"/>
              <a:ext cx="6649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Chunks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C69644CE-784A-4963-B92C-1E38190CFAFB}"/>
              </a:ext>
            </a:extLst>
          </p:cNvPr>
          <p:cNvGrpSpPr/>
          <p:nvPr/>
        </p:nvGrpSpPr>
        <p:grpSpPr>
          <a:xfrm>
            <a:off x="1995073" y="3641699"/>
            <a:ext cx="768189" cy="650357"/>
            <a:chOff x="2713971" y="2890046"/>
            <a:chExt cx="768189" cy="650357"/>
          </a:xfrm>
        </p:grpSpPr>
        <p:sp>
          <p:nvSpPr>
            <p:cNvPr id="72" name="流程图: 接点 71">
              <a:extLst>
                <a:ext uri="{FF2B5EF4-FFF2-40B4-BE49-F238E27FC236}">
                  <a16:creationId xmlns:a16="http://schemas.microsoft.com/office/drawing/2014/main" id="{6D03A81C-4CC8-7F4E-60A8-CC0A8A16E521}"/>
                </a:ext>
              </a:extLst>
            </p:cNvPr>
            <p:cNvSpPr/>
            <p:nvPr/>
          </p:nvSpPr>
          <p:spPr>
            <a:xfrm>
              <a:off x="2758621" y="2890046"/>
              <a:ext cx="674988" cy="650357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1012A40F-AE8D-9DE4-7A70-9D62637C12FE}"/>
                </a:ext>
              </a:extLst>
            </p:cNvPr>
            <p:cNvSpPr txBox="1"/>
            <p:nvPr/>
          </p:nvSpPr>
          <p:spPr>
            <a:xfrm>
              <a:off x="2713971" y="3086993"/>
              <a:ext cx="768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Vectors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A32E3B8-B30D-0494-90EC-68DAD81BE329}"/>
              </a:ext>
            </a:extLst>
          </p:cNvPr>
          <p:cNvGrpSpPr/>
          <p:nvPr/>
        </p:nvGrpSpPr>
        <p:grpSpPr>
          <a:xfrm>
            <a:off x="3424877" y="3641699"/>
            <a:ext cx="768189" cy="650357"/>
            <a:chOff x="2730607" y="2938058"/>
            <a:chExt cx="768189" cy="650357"/>
          </a:xfrm>
        </p:grpSpPr>
        <p:sp>
          <p:nvSpPr>
            <p:cNvPr id="154" name="流程图: 接点 153">
              <a:extLst>
                <a:ext uri="{FF2B5EF4-FFF2-40B4-BE49-F238E27FC236}">
                  <a16:creationId xmlns:a16="http://schemas.microsoft.com/office/drawing/2014/main" id="{2B4BEB9C-9E74-DE94-9796-059EE2EFE64C}"/>
                </a:ext>
              </a:extLst>
            </p:cNvPr>
            <p:cNvSpPr/>
            <p:nvPr/>
          </p:nvSpPr>
          <p:spPr>
            <a:xfrm>
              <a:off x="2794017" y="2938058"/>
              <a:ext cx="674988" cy="650357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8C2D7EB1-956C-982B-D7B7-2EC9A9009B28}"/>
                </a:ext>
              </a:extLst>
            </p:cNvPr>
            <p:cNvSpPr txBox="1"/>
            <p:nvPr/>
          </p:nvSpPr>
          <p:spPr>
            <a:xfrm>
              <a:off x="2730607" y="3073038"/>
              <a:ext cx="768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Vector</a:t>
              </a:r>
            </a:p>
            <a:p>
              <a:pPr algn="ctr"/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DB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37E95166-63C2-20E6-C4D4-EDF1A13BFA63}"/>
              </a:ext>
            </a:extLst>
          </p:cNvPr>
          <p:cNvCxnSpPr>
            <a:cxnSpLocks/>
            <a:stCxn id="72" idx="6"/>
            <a:endCxn id="154" idx="2"/>
          </p:cNvCxnSpPr>
          <p:nvPr/>
        </p:nvCxnSpPr>
        <p:spPr>
          <a:xfrm>
            <a:off x="2714711" y="3966878"/>
            <a:ext cx="77357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AC533D33-C702-4EDF-2609-F10F47A4306B}"/>
              </a:ext>
            </a:extLst>
          </p:cNvPr>
          <p:cNvSpPr txBox="1"/>
          <p:nvPr/>
        </p:nvSpPr>
        <p:spPr>
          <a:xfrm>
            <a:off x="2703289" y="3933273"/>
            <a:ext cx="768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MV Boli" panose="02000500030200090000" pitchFamily="2" charset="0"/>
                <a:cs typeface="MV Boli" panose="02000500030200090000" pitchFamily="2" charset="0"/>
              </a:rPr>
              <a:t>Process</a:t>
            </a:r>
            <a:endParaRPr lang="zh-CN" altLang="en-US" sz="12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B344364-933F-0005-49A5-A34F17145E6F}"/>
              </a:ext>
            </a:extLst>
          </p:cNvPr>
          <p:cNvCxnSpPr>
            <a:cxnSpLocks/>
            <a:stCxn id="154" idx="6"/>
            <a:endCxn id="2" idx="2"/>
          </p:cNvCxnSpPr>
          <p:nvPr/>
        </p:nvCxnSpPr>
        <p:spPr>
          <a:xfrm>
            <a:off x="4163275" y="3966878"/>
            <a:ext cx="929793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B87504F-2491-6654-8BEB-A4E724153981}"/>
              </a:ext>
            </a:extLst>
          </p:cNvPr>
          <p:cNvGrpSpPr/>
          <p:nvPr/>
        </p:nvGrpSpPr>
        <p:grpSpPr>
          <a:xfrm>
            <a:off x="4850566" y="1521689"/>
            <a:ext cx="3865226" cy="1808404"/>
            <a:chOff x="4821700" y="4964137"/>
            <a:chExt cx="3782252" cy="1808404"/>
          </a:xfrm>
        </p:grpSpPr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976044A3-B570-D45E-48F5-20A408646607}"/>
                </a:ext>
              </a:extLst>
            </p:cNvPr>
            <p:cNvSpPr/>
            <p:nvPr/>
          </p:nvSpPr>
          <p:spPr>
            <a:xfrm>
              <a:off x="4897554" y="4964137"/>
              <a:ext cx="2114682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b="1" cap="none" spc="0" dirty="0">
                  <a:ln w="0"/>
                  <a:solidFill>
                    <a:schemeClr val="accent6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V Boli" panose="02000500030200090000" pitchFamily="2" charset="0"/>
                  <a:cs typeface="MV Boli" panose="02000500030200090000" pitchFamily="2" charset="0"/>
                </a:rPr>
                <a:t>Vector Database</a:t>
              </a:r>
              <a:endParaRPr lang="zh-CN" altLang="en-US" sz="2000" b="1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pic>
          <p:nvPicPr>
            <p:cNvPr id="49" name="图形 48" descr="数据库 纯色填充">
              <a:extLst>
                <a:ext uri="{FF2B5EF4-FFF2-40B4-BE49-F238E27FC236}">
                  <a16:creationId xmlns:a16="http://schemas.microsoft.com/office/drawing/2014/main" id="{699F09DD-8C75-387E-DA34-F17BBE985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66329" y="5580107"/>
              <a:ext cx="861465" cy="692711"/>
            </a:xfrm>
            <a:prstGeom prst="rect">
              <a:avLst/>
            </a:prstGeom>
          </p:spPr>
        </p:pic>
        <p:pic>
          <p:nvPicPr>
            <p:cNvPr id="53" name="图形 52" descr="带齿轮的头部 纯色填充">
              <a:extLst>
                <a:ext uri="{FF2B5EF4-FFF2-40B4-BE49-F238E27FC236}">
                  <a16:creationId xmlns:a16="http://schemas.microsoft.com/office/drawing/2014/main" id="{147A99FA-ED24-4C5B-A11C-3CBED5AF3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3974" y="6061968"/>
              <a:ext cx="376044" cy="302380"/>
            </a:xfrm>
            <a:prstGeom prst="rect">
              <a:avLst/>
            </a:prstGeom>
          </p:spPr>
        </p:pic>
        <p:sp>
          <p:nvSpPr>
            <p:cNvPr id="170" name="箭头: 右 169">
              <a:extLst>
                <a:ext uri="{FF2B5EF4-FFF2-40B4-BE49-F238E27FC236}">
                  <a16:creationId xmlns:a16="http://schemas.microsoft.com/office/drawing/2014/main" id="{AB85732E-2FA4-D888-1181-BF2643961DBE}"/>
                </a:ext>
              </a:extLst>
            </p:cNvPr>
            <p:cNvSpPr/>
            <p:nvPr/>
          </p:nvSpPr>
          <p:spPr>
            <a:xfrm>
              <a:off x="5866253" y="5919912"/>
              <a:ext cx="595905" cy="146690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F9EA8D12-5E4E-7B34-979C-7960436BF3CC}"/>
                </a:ext>
              </a:extLst>
            </p:cNvPr>
            <p:cNvSpPr txBox="1"/>
            <p:nvPr/>
          </p:nvSpPr>
          <p:spPr>
            <a:xfrm>
              <a:off x="5663408" y="5565234"/>
              <a:ext cx="911608" cy="3803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Normalize Dept</a:t>
              </a:r>
              <a:endParaRPr lang="zh-CN" altLang="en-US" sz="105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03EBD485-9625-C419-8AE5-722F2149B88B}"/>
                </a:ext>
              </a:extLst>
            </p:cNvPr>
            <p:cNvGrpSpPr/>
            <p:nvPr/>
          </p:nvGrpSpPr>
          <p:grpSpPr>
            <a:xfrm>
              <a:off x="5357670" y="5402624"/>
              <a:ext cx="355467" cy="799643"/>
              <a:chOff x="4468291" y="3128604"/>
              <a:chExt cx="437446" cy="1064682"/>
            </a:xfrm>
          </p:grpSpPr>
          <p:sp>
            <p:nvSpPr>
              <p:cNvPr id="177" name="矩形: 折角 176">
                <a:extLst>
                  <a:ext uri="{FF2B5EF4-FFF2-40B4-BE49-F238E27FC236}">
                    <a16:creationId xmlns:a16="http://schemas.microsoft.com/office/drawing/2014/main" id="{7BF2C1B3-1B29-8126-70D4-991160897C7E}"/>
                  </a:ext>
                </a:extLst>
              </p:cNvPr>
              <p:cNvSpPr/>
              <p:nvPr/>
            </p:nvSpPr>
            <p:spPr>
              <a:xfrm rot="10800000">
                <a:off x="4468298" y="3128604"/>
                <a:ext cx="437439" cy="444818"/>
              </a:xfrm>
              <a:prstGeom prst="foldedCorner">
                <a:avLst>
                  <a:gd name="adj" fmla="val 43961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矩形: 折角 177">
                <a:extLst>
                  <a:ext uri="{FF2B5EF4-FFF2-40B4-BE49-F238E27FC236}">
                    <a16:creationId xmlns:a16="http://schemas.microsoft.com/office/drawing/2014/main" id="{7A2DFAC7-CCC9-42D7-CF8D-78D6543EC054}"/>
                  </a:ext>
                </a:extLst>
              </p:cNvPr>
              <p:cNvSpPr/>
              <p:nvPr/>
            </p:nvSpPr>
            <p:spPr>
              <a:xfrm rot="10800000">
                <a:off x="4468298" y="3283569"/>
                <a:ext cx="437436" cy="444818"/>
              </a:xfrm>
              <a:prstGeom prst="foldedCorner">
                <a:avLst>
                  <a:gd name="adj" fmla="val 43961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: 折角 178">
                <a:extLst>
                  <a:ext uri="{FF2B5EF4-FFF2-40B4-BE49-F238E27FC236}">
                    <a16:creationId xmlns:a16="http://schemas.microsoft.com/office/drawing/2014/main" id="{507EF9E1-759A-F259-3156-ABE6C227BF57}"/>
                  </a:ext>
                </a:extLst>
              </p:cNvPr>
              <p:cNvSpPr/>
              <p:nvPr/>
            </p:nvSpPr>
            <p:spPr>
              <a:xfrm rot="10800000">
                <a:off x="4468298" y="3438535"/>
                <a:ext cx="437436" cy="444818"/>
              </a:xfrm>
              <a:prstGeom prst="foldedCorner">
                <a:avLst>
                  <a:gd name="adj" fmla="val 43961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: 折角 179">
                <a:extLst>
                  <a:ext uri="{FF2B5EF4-FFF2-40B4-BE49-F238E27FC236}">
                    <a16:creationId xmlns:a16="http://schemas.microsoft.com/office/drawing/2014/main" id="{6DE78C4A-28C2-49DC-EDE3-CB38B819836E}"/>
                  </a:ext>
                </a:extLst>
              </p:cNvPr>
              <p:cNvSpPr/>
              <p:nvPr/>
            </p:nvSpPr>
            <p:spPr>
              <a:xfrm rot="10800000">
                <a:off x="4468291" y="3593503"/>
                <a:ext cx="437436" cy="444818"/>
              </a:xfrm>
              <a:prstGeom prst="foldedCorner">
                <a:avLst>
                  <a:gd name="adj" fmla="val 43961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: 折角 180">
                <a:extLst>
                  <a:ext uri="{FF2B5EF4-FFF2-40B4-BE49-F238E27FC236}">
                    <a16:creationId xmlns:a16="http://schemas.microsoft.com/office/drawing/2014/main" id="{2951C816-D32E-B2BB-5B7D-3F41AFBBE888}"/>
                  </a:ext>
                </a:extLst>
              </p:cNvPr>
              <p:cNvSpPr/>
              <p:nvPr/>
            </p:nvSpPr>
            <p:spPr>
              <a:xfrm rot="10800000">
                <a:off x="4468300" y="3748468"/>
                <a:ext cx="437436" cy="444818"/>
              </a:xfrm>
              <a:prstGeom prst="foldedCorner">
                <a:avLst>
                  <a:gd name="adj" fmla="val 43961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A56D40C9-844E-85AC-8A65-9F6179C812F2}"/>
                </a:ext>
              </a:extLst>
            </p:cNvPr>
            <p:cNvSpPr/>
            <p:nvPr/>
          </p:nvSpPr>
          <p:spPr>
            <a:xfrm>
              <a:off x="4957898" y="5255654"/>
              <a:ext cx="3646054" cy="1509346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91274CB5-9A2F-0168-DE05-115E1AF4A411}"/>
                </a:ext>
              </a:extLst>
            </p:cNvPr>
            <p:cNvGrpSpPr/>
            <p:nvPr/>
          </p:nvGrpSpPr>
          <p:grpSpPr>
            <a:xfrm>
              <a:off x="6532415" y="5379301"/>
              <a:ext cx="892923" cy="1193539"/>
              <a:chOff x="5768365" y="485904"/>
              <a:chExt cx="895658" cy="1488849"/>
            </a:xfrm>
          </p:grpSpPr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DD72DED4-BBA5-8137-3C24-908B5A648369}"/>
                  </a:ext>
                </a:extLst>
              </p:cNvPr>
              <p:cNvGrpSpPr/>
              <p:nvPr/>
            </p:nvGrpSpPr>
            <p:grpSpPr>
              <a:xfrm>
                <a:off x="5768365" y="485904"/>
                <a:ext cx="889403" cy="485751"/>
                <a:chOff x="5874227" y="2657132"/>
                <a:chExt cx="1115717" cy="586832"/>
              </a:xfrm>
            </p:grpSpPr>
            <p:pic>
              <p:nvPicPr>
                <p:cNvPr id="186" name="图片 185">
                  <a:extLst>
                    <a:ext uri="{FF2B5EF4-FFF2-40B4-BE49-F238E27FC236}">
                      <a16:creationId xmlns:a16="http://schemas.microsoft.com/office/drawing/2014/main" id="{9FE13829-8BC0-64B8-EC18-38D3479A7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4227" y="2657132"/>
                  <a:ext cx="1115717" cy="503470"/>
                </a:xfrm>
                <a:prstGeom prst="rect">
                  <a:avLst/>
                </a:prstGeom>
              </p:spPr>
            </p:pic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D1C97B4B-E56C-77EA-EC53-07849030933E}"/>
                    </a:ext>
                  </a:extLst>
                </p:cNvPr>
                <p:cNvSpPr txBox="1"/>
                <p:nvPr/>
              </p:nvSpPr>
              <p:spPr>
                <a:xfrm>
                  <a:off x="5874227" y="2678316"/>
                  <a:ext cx="914401" cy="5656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Canonical  dept 1</a:t>
                  </a:r>
                  <a:endParaRPr lang="zh-CN" altLang="en-US" sz="900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  <p:grpSp>
            <p:nvGrpSpPr>
              <p:cNvPr id="193" name="组合 192">
                <a:extLst>
                  <a:ext uri="{FF2B5EF4-FFF2-40B4-BE49-F238E27FC236}">
                    <a16:creationId xmlns:a16="http://schemas.microsoft.com/office/drawing/2014/main" id="{C925A835-B61D-DD59-8ACC-0DB15445E12F}"/>
                  </a:ext>
                </a:extLst>
              </p:cNvPr>
              <p:cNvGrpSpPr/>
              <p:nvPr/>
            </p:nvGrpSpPr>
            <p:grpSpPr>
              <a:xfrm>
                <a:off x="5768365" y="1489001"/>
                <a:ext cx="889403" cy="485752"/>
                <a:chOff x="5874227" y="2657132"/>
                <a:chExt cx="1115717" cy="586834"/>
              </a:xfrm>
            </p:grpSpPr>
            <p:pic>
              <p:nvPicPr>
                <p:cNvPr id="194" name="图片 193">
                  <a:extLst>
                    <a:ext uri="{FF2B5EF4-FFF2-40B4-BE49-F238E27FC236}">
                      <a16:creationId xmlns:a16="http://schemas.microsoft.com/office/drawing/2014/main" id="{575E8485-3F76-B01B-C873-617C9B302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4227" y="2657132"/>
                  <a:ext cx="1115717" cy="503470"/>
                </a:xfrm>
                <a:prstGeom prst="rect">
                  <a:avLst/>
                </a:prstGeom>
              </p:spPr>
            </p:pic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6C2EAEC7-88DC-8123-9D08-30D2F9D2D580}"/>
                    </a:ext>
                  </a:extLst>
                </p:cNvPr>
                <p:cNvSpPr txBox="1"/>
                <p:nvPr/>
              </p:nvSpPr>
              <p:spPr>
                <a:xfrm>
                  <a:off x="5874227" y="2678316"/>
                  <a:ext cx="914399" cy="5656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Canonical  dept n</a:t>
                  </a:r>
                  <a:endParaRPr lang="zh-CN" altLang="en-US" sz="900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  <p:grpSp>
            <p:nvGrpSpPr>
              <p:cNvPr id="196" name="组合 195">
                <a:extLst>
                  <a:ext uri="{FF2B5EF4-FFF2-40B4-BE49-F238E27FC236}">
                    <a16:creationId xmlns:a16="http://schemas.microsoft.com/office/drawing/2014/main" id="{CE0A9668-770E-3295-94E7-E03068270727}"/>
                  </a:ext>
                </a:extLst>
              </p:cNvPr>
              <p:cNvGrpSpPr/>
              <p:nvPr/>
            </p:nvGrpSpPr>
            <p:grpSpPr>
              <a:xfrm>
                <a:off x="5774620" y="893821"/>
                <a:ext cx="889403" cy="492810"/>
                <a:chOff x="5874227" y="2565242"/>
                <a:chExt cx="1115717" cy="595360"/>
              </a:xfrm>
            </p:grpSpPr>
            <p:pic>
              <p:nvPicPr>
                <p:cNvPr id="197" name="图片 196">
                  <a:extLst>
                    <a:ext uri="{FF2B5EF4-FFF2-40B4-BE49-F238E27FC236}">
                      <a16:creationId xmlns:a16="http://schemas.microsoft.com/office/drawing/2014/main" id="{6E6A1E59-1C70-B508-F029-1282CD153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4227" y="2657132"/>
                  <a:ext cx="1115717" cy="503470"/>
                </a:xfrm>
                <a:prstGeom prst="rect">
                  <a:avLst/>
                </a:prstGeom>
              </p:spPr>
            </p:pic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E82647B5-F025-BF2C-8C0C-75D2940974D3}"/>
                    </a:ext>
                  </a:extLst>
                </p:cNvPr>
                <p:cNvSpPr txBox="1"/>
                <p:nvPr/>
              </p:nvSpPr>
              <p:spPr>
                <a:xfrm>
                  <a:off x="6039987" y="2565242"/>
                  <a:ext cx="914399" cy="5577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…</a:t>
                  </a:r>
                  <a:endParaRPr lang="zh-CN" altLang="en-US" sz="2400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</p:grpSp>
        <p:sp>
          <p:nvSpPr>
            <p:cNvPr id="200" name="箭头: 右 199">
              <a:extLst>
                <a:ext uri="{FF2B5EF4-FFF2-40B4-BE49-F238E27FC236}">
                  <a16:creationId xmlns:a16="http://schemas.microsoft.com/office/drawing/2014/main" id="{91568F62-B480-FF02-4552-30553578F5EB}"/>
                </a:ext>
              </a:extLst>
            </p:cNvPr>
            <p:cNvSpPr/>
            <p:nvPr/>
          </p:nvSpPr>
          <p:spPr>
            <a:xfrm>
              <a:off x="7515152" y="5909914"/>
              <a:ext cx="289884" cy="152134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323EB8BF-DDF7-3AC2-9577-5B77CEAA93B8}"/>
                </a:ext>
              </a:extLst>
            </p:cNvPr>
            <p:cNvSpPr txBox="1"/>
            <p:nvPr/>
          </p:nvSpPr>
          <p:spPr>
            <a:xfrm>
              <a:off x="7616187" y="6178990"/>
              <a:ext cx="91160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Vector</a:t>
              </a:r>
            </a:p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DB</a:t>
              </a:r>
            </a:p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Ready!</a:t>
              </a:r>
              <a:endParaRPr lang="zh-CN" altLang="en-US" sz="10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72DFFEB7-37F2-6EF8-506C-F4DB8B964D07}"/>
                </a:ext>
              </a:extLst>
            </p:cNvPr>
            <p:cNvSpPr txBox="1"/>
            <p:nvPr/>
          </p:nvSpPr>
          <p:spPr>
            <a:xfrm>
              <a:off x="4821700" y="6218543"/>
              <a:ext cx="158710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Store </a:t>
              </a:r>
            </a:p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(embedding, source, </a:t>
              </a:r>
            </a:p>
            <a:p>
              <a:pPr algn="ctr"/>
              <a:r>
                <a:rPr lang="en-US" altLang="zh-CN" sz="1000" b="1" dirty="0">
                  <a:latin typeface="MV Boli" panose="02000500030200090000" pitchFamily="2" charset="0"/>
                  <a:cs typeface="MV Boli" panose="02000500030200090000" pitchFamily="2" charset="0"/>
                </a:rPr>
                <a:t>canonical dept)</a:t>
              </a:r>
              <a:endParaRPr lang="zh-CN" altLang="en-US" sz="10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829793-6F76-4BC3-9683-835B72F5618B}"/>
              </a:ext>
            </a:extLst>
          </p:cNvPr>
          <p:cNvCxnSpPr>
            <a:cxnSpLocks/>
            <a:stCxn id="54" idx="6"/>
            <a:endCxn id="72" idx="2"/>
          </p:cNvCxnSpPr>
          <p:nvPr/>
        </p:nvCxnSpPr>
        <p:spPr>
          <a:xfrm>
            <a:off x="1127470" y="3966878"/>
            <a:ext cx="9122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657F892-B0A0-BFA6-3A77-6F68E6EC732E}"/>
              </a:ext>
            </a:extLst>
          </p:cNvPr>
          <p:cNvGrpSpPr/>
          <p:nvPr/>
        </p:nvGrpSpPr>
        <p:grpSpPr>
          <a:xfrm>
            <a:off x="118984" y="244785"/>
            <a:ext cx="965078" cy="1212184"/>
            <a:chOff x="4391056" y="568972"/>
            <a:chExt cx="510712" cy="774086"/>
          </a:xfrm>
        </p:grpSpPr>
        <p:pic>
          <p:nvPicPr>
            <p:cNvPr id="84" name="图形 83" descr="呼叫中心 纯色填充">
              <a:extLst>
                <a:ext uri="{FF2B5EF4-FFF2-40B4-BE49-F238E27FC236}">
                  <a16:creationId xmlns:a16="http://schemas.microsoft.com/office/drawing/2014/main" id="{16DAD857-766E-3AB4-7A12-7E782A761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1056" y="568972"/>
              <a:ext cx="510712" cy="607120"/>
            </a:xfrm>
            <a:prstGeom prst="rect">
              <a:avLst/>
            </a:prstGeom>
          </p:spPr>
        </p:pic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302D778D-6911-C848-3DA8-E26C7156FE2E}"/>
                </a:ext>
              </a:extLst>
            </p:cNvPr>
            <p:cNvSpPr txBox="1"/>
            <p:nvPr/>
          </p:nvSpPr>
          <p:spPr>
            <a:xfrm>
              <a:off x="4400923" y="1125286"/>
              <a:ext cx="478777" cy="217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User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4C5B7647-46DE-3F47-07C9-313BCB1AE61B}"/>
              </a:ext>
            </a:extLst>
          </p:cNvPr>
          <p:cNvGrpSpPr/>
          <p:nvPr/>
        </p:nvGrpSpPr>
        <p:grpSpPr>
          <a:xfrm>
            <a:off x="426995" y="4597316"/>
            <a:ext cx="3855398" cy="1979126"/>
            <a:chOff x="429019" y="4545962"/>
            <a:chExt cx="3855398" cy="197912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58D61AB-53C6-6B04-C34C-772487260681}"/>
                </a:ext>
              </a:extLst>
            </p:cNvPr>
            <p:cNvSpPr/>
            <p:nvPr/>
          </p:nvSpPr>
          <p:spPr>
            <a:xfrm>
              <a:off x="497419" y="4580937"/>
              <a:ext cx="1726755" cy="52719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b="1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V Boli" panose="02000500030200090000" pitchFamily="2" charset="0"/>
                  <a:cs typeface="MV Boli" panose="02000500030200090000" pitchFamily="2" charset="0"/>
                </a:rPr>
                <a:t>Data Loading</a:t>
              </a:r>
              <a:endParaRPr lang="zh-CN" alt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22C1006-9203-850B-F0E8-F39AB444C2D7}"/>
                </a:ext>
              </a:extLst>
            </p:cNvPr>
            <p:cNvSpPr/>
            <p:nvPr/>
          </p:nvSpPr>
          <p:spPr>
            <a:xfrm>
              <a:off x="429019" y="4545962"/>
              <a:ext cx="3708423" cy="1894499"/>
            </a:xfrm>
            <a:prstGeom prst="roundRect">
              <a:avLst/>
            </a:prstGeom>
            <a:noFill/>
            <a:ln w="381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023AF94-8280-11D1-0D94-7EF6534241C2}"/>
                </a:ext>
              </a:extLst>
            </p:cNvPr>
            <p:cNvGrpSpPr/>
            <p:nvPr/>
          </p:nvGrpSpPr>
          <p:grpSpPr>
            <a:xfrm>
              <a:off x="1855072" y="5012986"/>
              <a:ext cx="770484" cy="938602"/>
              <a:chOff x="625271" y="1220130"/>
              <a:chExt cx="1335106" cy="1350998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FB3C91F2-975F-76D8-B858-B75D9FF0A709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3929" y="1774680"/>
                <a:ext cx="796448" cy="796448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D3AD11C6-A23F-9B38-4CCC-8E24EF995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5271" y="1220130"/>
                <a:ext cx="796448" cy="79644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9BCF26B-AA48-F4B3-7923-C5DA3D03A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4601" y="1497404"/>
                <a:ext cx="741901" cy="796448"/>
              </a:xfrm>
              <a:prstGeom prst="rect">
                <a:avLst/>
              </a:prstGeom>
            </p:spPr>
          </p:pic>
        </p:grp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750A3142-7C48-194A-17AD-39A90B18012F}"/>
                </a:ext>
              </a:extLst>
            </p:cNvPr>
            <p:cNvSpPr/>
            <p:nvPr/>
          </p:nvSpPr>
          <p:spPr>
            <a:xfrm>
              <a:off x="1429394" y="5441883"/>
              <a:ext cx="316875" cy="222428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D6DB0F21-FD3A-3E83-6F58-32C65817FECA}"/>
                </a:ext>
              </a:extLst>
            </p:cNvPr>
            <p:cNvGrpSpPr/>
            <p:nvPr/>
          </p:nvGrpSpPr>
          <p:grpSpPr>
            <a:xfrm>
              <a:off x="448518" y="5134477"/>
              <a:ext cx="1197767" cy="1056308"/>
              <a:chOff x="62210" y="5794211"/>
              <a:chExt cx="1197767" cy="801671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79CD3158-D612-0BE6-1BA6-2DA027F7ADDF}"/>
                  </a:ext>
                </a:extLst>
              </p:cNvPr>
              <p:cNvGrpSpPr/>
              <p:nvPr/>
            </p:nvGrpSpPr>
            <p:grpSpPr>
              <a:xfrm>
                <a:off x="221527" y="5794211"/>
                <a:ext cx="732593" cy="464131"/>
                <a:chOff x="1980753" y="766146"/>
                <a:chExt cx="1566415" cy="1123258"/>
              </a:xfrm>
            </p:grpSpPr>
            <p:pic>
              <p:nvPicPr>
                <p:cNvPr id="6" name="图片 5">
                  <a:extLst>
                    <a:ext uri="{FF2B5EF4-FFF2-40B4-BE49-F238E27FC236}">
                      <a16:creationId xmlns:a16="http://schemas.microsoft.com/office/drawing/2014/main" id="{87D48165-1AFA-A1F6-DE05-35E64C2E45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80753" y="766146"/>
                  <a:ext cx="1566415" cy="1123258"/>
                </a:xfrm>
                <a:prstGeom prst="rect">
                  <a:avLst/>
                </a:prstGeom>
              </p:spPr>
            </p:pic>
            <p:pic>
              <p:nvPicPr>
                <p:cNvPr id="12" name="图片 11">
                  <a:extLst>
                    <a:ext uri="{FF2B5EF4-FFF2-40B4-BE49-F238E27FC236}">
                      <a16:creationId xmlns:a16="http://schemas.microsoft.com/office/drawing/2014/main" id="{1025AA57-453F-44C5-1F2D-09BDCF8E1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64211" y="1109516"/>
                  <a:ext cx="707136" cy="588261"/>
                </a:xfrm>
                <a:prstGeom prst="rect">
                  <a:avLst/>
                </a:prstGeom>
              </p:spPr>
            </p:pic>
          </p:grp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88133DB-494C-B124-0BE9-74A48DCDA9E5}"/>
                  </a:ext>
                </a:extLst>
              </p:cNvPr>
              <p:cNvSpPr txBox="1"/>
              <p:nvPr/>
            </p:nvSpPr>
            <p:spPr>
              <a:xfrm>
                <a:off x="62210" y="6282360"/>
                <a:ext cx="1197767" cy="313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Real-Life Query Collection</a:t>
                </a:r>
                <a:endParaRPr lang="zh-CN" altLang="en-US" sz="110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974FE03-D03E-C2D7-0571-E35A35932896}"/>
                </a:ext>
              </a:extLst>
            </p:cNvPr>
            <p:cNvSpPr txBox="1"/>
            <p:nvPr/>
          </p:nvSpPr>
          <p:spPr>
            <a:xfrm>
              <a:off x="1776171" y="5939306"/>
              <a:ext cx="897964" cy="310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Csv files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BC3A54D0-5D60-87D9-B624-0CA815709940}"/>
                </a:ext>
              </a:extLst>
            </p:cNvPr>
            <p:cNvGrpSpPr/>
            <p:nvPr/>
          </p:nvGrpSpPr>
          <p:grpSpPr>
            <a:xfrm>
              <a:off x="2657644" y="5093383"/>
              <a:ext cx="422312" cy="593611"/>
              <a:chOff x="4437019" y="5710371"/>
              <a:chExt cx="422312" cy="450513"/>
            </a:xfrm>
          </p:grpSpPr>
          <p:sp>
            <p:nvSpPr>
              <p:cNvPr id="16" name="箭头: 右 15">
                <a:extLst>
                  <a:ext uri="{FF2B5EF4-FFF2-40B4-BE49-F238E27FC236}">
                    <a16:creationId xmlns:a16="http://schemas.microsoft.com/office/drawing/2014/main" id="{C6212003-E638-A5C9-24F8-46383984D735}"/>
                  </a:ext>
                </a:extLst>
              </p:cNvPr>
              <p:cNvSpPr/>
              <p:nvPr/>
            </p:nvSpPr>
            <p:spPr>
              <a:xfrm>
                <a:off x="4437019" y="5969851"/>
                <a:ext cx="422312" cy="191033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6A02F73B-4A3D-524B-A4CB-58BE9B7ED5F6}"/>
                  </a:ext>
                </a:extLst>
              </p:cNvPr>
              <p:cNvGrpSpPr/>
              <p:nvPr/>
            </p:nvGrpSpPr>
            <p:grpSpPr>
              <a:xfrm>
                <a:off x="4463421" y="5710371"/>
                <a:ext cx="298215" cy="279259"/>
                <a:chOff x="3335796" y="696640"/>
                <a:chExt cx="818559" cy="1045809"/>
              </a:xfrm>
            </p:grpSpPr>
            <p:pic>
              <p:nvPicPr>
                <p:cNvPr id="18" name="图片 17">
                  <a:extLst>
                    <a:ext uri="{FF2B5EF4-FFF2-40B4-BE49-F238E27FC236}">
                      <a16:creationId xmlns:a16="http://schemas.microsoft.com/office/drawing/2014/main" id="{8971CE25-F226-0AF2-92A7-BD0EF757C9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3369165" y="696640"/>
                  <a:ext cx="463699" cy="463337"/>
                </a:xfrm>
                <a:prstGeom prst="rect">
                  <a:avLst/>
                </a:prstGeom>
              </p:spPr>
            </p:pic>
            <p:pic>
              <p:nvPicPr>
                <p:cNvPr id="19" name="图片 18">
                  <a:extLst>
                    <a:ext uri="{FF2B5EF4-FFF2-40B4-BE49-F238E27FC236}">
                      <a16:creationId xmlns:a16="http://schemas.microsoft.com/office/drawing/2014/main" id="{70861050-A530-B246-EC60-916938E675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3690656" y="1014187"/>
                  <a:ext cx="463699" cy="463337"/>
                </a:xfrm>
                <a:prstGeom prst="rect">
                  <a:avLst/>
                </a:prstGeom>
              </p:spPr>
            </p:pic>
            <p:pic>
              <p:nvPicPr>
                <p:cNvPr id="20" name="图片 19">
                  <a:extLst>
                    <a:ext uri="{FF2B5EF4-FFF2-40B4-BE49-F238E27FC236}">
                      <a16:creationId xmlns:a16="http://schemas.microsoft.com/office/drawing/2014/main" id="{72192EC9-D2F9-CAA8-9E8B-EA109216A1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3335796" y="1279111"/>
                  <a:ext cx="463699" cy="463338"/>
                </a:xfrm>
                <a:prstGeom prst="rect">
                  <a:avLst/>
                </a:prstGeom>
              </p:spPr>
            </p:pic>
          </p:grpSp>
        </p:grp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465CBF2-475A-C486-A926-6C5CC9EA8D6C}"/>
                </a:ext>
              </a:extLst>
            </p:cNvPr>
            <p:cNvSpPr txBox="1"/>
            <p:nvPr/>
          </p:nvSpPr>
          <p:spPr>
            <a:xfrm>
              <a:off x="2836768" y="6160105"/>
              <a:ext cx="1447649" cy="364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Cleaned Chunks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9731D659-DFC0-703C-D28A-58FEA1E58908}"/>
                </a:ext>
              </a:extLst>
            </p:cNvPr>
            <p:cNvGrpSpPr/>
            <p:nvPr/>
          </p:nvGrpSpPr>
          <p:grpSpPr>
            <a:xfrm>
              <a:off x="3121782" y="4949609"/>
              <a:ext cx="831180" cy="1203752"/>
              <a:chOff x="2580725" y="5618229"/>
              <a:chExt cx="831180" cy="913571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5BDE737-5FFB-EBA3-9C5C-DC7DCED4C2AE}"/>
                  </a:ext>
                </a:extLst>
              </p:cNvPr>
              <p:cNvSpPr txBox="1"/>
              <p:nvPr/>
            </p:nvSpPr>
            <p:spPr>
              <a:xfrm>
                <a:off x="2580725" y="5618229"/>
                <a:ext cx="674987" cy="70788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[Dept]</a:t>
                </a:r>
                <a:endParaRPr lang="zh-CN" altLang="en-US" sz="1000" dirty="0"/>
              </a:p>
              <a:p>
                <a:r>
                  <a:rPr lang="en-US" altLang="zh-CN" sz="1000" dirty="0"/>
                  <a:t>[Title]</a:t>
                </a:r>
              </a:p>
              <a:p>
                <a:r>
                  <a:rPr lang="en-US" altLang="zh-CN" sz="1000" dirty="0"/>
                  <a:t>[Ask]</a:t>
                </a:r>
              </a:p>
              <a:p>
                <a:r>
                  <a:rPr lang="en-US" altLang="zh-CN" sz="1000" dirty="0"/>
                  <a:t>[Answer]</a:t>
                </a:r>
                <a:endParaRPr lang="zh-CN" altLang="en-US" sz="900" dirty="0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FFB2B14-9385-569E-9AFF-B63FECFFBB63}"/>
                  </a:ext>
                </a:extLst>
              </p:cNvPr>
              <p:cNvSpPr txBox="1"/>
              <p:nvPr/>
            </p:nvSpPr>
            <p:spPr>
              <a:xfrm>
                <a:off x="2658821" y="5722296"/>
                <a:ext cx="674987" cy="70788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[Dept]</a:t>
                </a:r>
                <a:endParaRPr lang="zh-CN" altLang="en-US" sz="1000" dirty="0"/>
              </a:p>
              <a:p>
                <a:r>
                  <a:rPr lang="en-US" altLang="zh-CN" sz="1000" dirty="0"/>
                  <a:t>[Title]</a:t>
                </a:r>
              </a:p>
              <a:p>
                <a:r>
                  <a:rPr lang="en-US" altLang="zh-CN" sz="1000" dirty="0"/>
                  <a:t>[Ask]</a:t>
                </a:r>
              </a:p>
              <a:p>
                <a:r>
                  <a:rPr lang="en-US" altLang="zh-CN" sz="1000" dirty="0"/>
                  <a:t>[Answer]</a:t>
                </a:r>
                <a:endParaRPr lang="zh-CN" altLang="en-US" sz="900" dirty="0"/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A133FEA0-0CDC-197D-FD20-0CB321B1D565}"/>
                  </a:ext>
                </a:extLst>
              </p:cNvPr>
              <p:cNvSpPr txBox="1"/>
              <p:nvPr/>
            </p:nvSpPr>
            <p:spPr>
              <a:xfrm>
                <a:off x="2745641" y="5823914"/>
                <a:ext cx="666264" cy="70788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/>
                  <a:t>[Dept]</a:t>
                </a:r>
                <a:endParaRPr lang="zh-CN" altLang="en-US" sz="1000" dirty="0"/>
              </a:p>
              <a:p>
                <a:r>
                  <a:rPr lang="en-US" altLang="zh-CN" sz="1000" dirty="0"/>
                  <a:t>[Title]</a:t>
                </a:r>
              </a:p>
              <a:p>
                <a:r>
                  <a:rPr lang="en-US" altLang="zh-CN" sz="1000" dirty="0"/>
                  <a:t>[Ask]</a:t>
                </a:r>
              </a:p>
              <a:p>
                <a:r>
                  <a:rPr lang="en-US" altLang="zh-CN" sz="1000" dirty="0"/>
                  <a:t>[Answer]</a:t>
                </a:r>
                <a:endParaRPr lang="zh-CN" altLang="en-US" sz="900" dirty="0"/>
              </a:p>
            </p:txBody>
          </p:sp>
        </p:grp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7200100F-09B5-F04D-72F3-EEEFFC1979C8}"/>
              </a:ext>
            </a:extLst>
          </p:cNvPr>
          <p:cNvGrpSpPr/>
          <p:nvPr/>
        </p:nvGrpSpPr>
        <p:grpSpPr>
          <a:xfrm>
            <a:off x="962644" y="325949"/>
            <a:ext cx="835896" cy="914400"/>
            <a:chOff x="2500689" y="2271798"/>
            <a:chExt cx="914400" cy="914400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EA2B73F-60A5-09B7-8041-AA47EF32643D}"/>
                </a:ext>
              </a:extLst>
            </p:cNvPr>
            <p:cNvSpPr txBox="1"/>
            <p:nvPr/>
          </p:nvSpPr>
          <p:spPr>
            <a:xfrm>
              <a:off x="2563755" y="2452104"/>
              <a:ext cx="6687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Query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pic>
          <p:nvPicPr>
            <p:cNvPr id="167" name="图形 166" descr="线箭头: 直 纯色填充">
              <a:extLst>
                <a:ext uri="{FF2B5EF4-FFF2-40B4-BE49-F238E27FC236}">
                  <a16:creationId xmlns:a16="http://schemas.microsoft.com/office/drawing/2014/main" id="{0D9955F0-4242-1BE3-3714-5973EF4C9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2500689" y="2271798"/>
              <a:ext cx="914400" cy="914400"/>
            </a:xfrm>
            <a:prstGeom prst="rect">
              <a:avLst/>
            </a:prstGeom>
          </p:spPr>
        </p:pic>
      </p:grp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C8CEEE09-CD64-7242-4FF3-901F02D981A6}"/>
              </a:ext>
            </a:extLst>
          </p:cNvPr>
          <p:cNvCxnSpPr>
            <a:cxnSpLocks/>
            <a:stCxn id="67" idx="2"/>
            <a:endCxn id="72" idx="0"/>
          </p:cNvCxnSpPr>
          <p:nvPr/>
        </p:nvCxnSpPr>
        <p:spPr>
          <a:xfrm flipH="1">
            <a:off x="2377217" y="3285971"/>
            <a:ext cx="103376" cy="35572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CEE65D7A-F030-48C0-DAE3-A800C9E96929}"/>
              </a:ext>
            </a:extLst>
          </p:cNvPr>
          <p:cNvCxnSpPr>
            <a:cxnSpLocks/>
            <a:stCxn id="126" idx="2"/>
            <a:endCxn id="154" idx="7"/>
          </p:cNvCxnSpPr>
          <p:nvPr/>
        </p:nvCxnSpPr>
        <p:spPr>
          <a:xfrm flipH="1">
            <a:off x="4064425" y="3330093"/>
            <a:ext cx="1597100" cy="406849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连接符: 肘形 214">
            <a:extLst>
              <a:ext uri="{FF2B5EF4-FFF2-40B4-BE49-F238E27FC236}">
                <a16:creationId xmlns:a16="http://schemas.microsoft.com/office/drawing/2014/main" id="{0000325D-99F3-9117-4F2C-E16010994676}"/>
              </a:ext>
            </a:extLst>
          </p:cNvPr>
          <p:cNvCxnSpPr>
            <a:cxnSpLocks/>
            <a:endCxn id="2" idx="1"/>
          </p:cNvCxnSpPr>
          <p:nvPr/>
        </p:nvCxnSpPr>
        <p:spPr>
          <a:xfrm rot="16200000" flipH="1">
            <a:off x="3871181" y="2407719"/>
            <a:ext cx="2257283" cy="384192"/>
          </a:xfrm>
          <a:prstGeom prst="bentConnector3">
            <a:avLst>
              <a:gd name="adj1" fmla="val 101885"/>
            </a:avLst>
          </a:prstGeom>
          <a:ln w="3810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21094853-F151-59CD-5CB0-10165C510D9E}"/>
              </a:ext>
            </a:extLst>
          </p:cNvPr>
          <p:cNvGrpSpPr/>
          <p:nvPr/>
        </p:nvGrpSpPr>
        <p:grpSpPr>
          <a:xfrm>
            <a:off x="5087200" y="3629700"/>
            <a:ext cx="680855" cy="674355"/>
            <a:chOff x="5096411" y="3593645"/>
            <a:chExt cx="680855" cy="674355"/>
          </a:xfrm>
        </p:grpSpPr>
        <p:sp>
          <p:nvSpPr>
            <p:cNvPr id="2" name="流程图: 接点 1">
              <a:extLst>
                <a:ext uri="{FF2B5EF4-FFF2-40B4-BE49-F238E27FC236}">
                  <a16:creationId xmlns:a16="http://schemas.microsoft.com/office/drawing/2014/main" id="{2AEE5490-AFB4-18A2-4C09-76C76890514C}"/>
                </a:ext>
              </a:extLst>
            </p:cNvPr>
            <p:cNvSpPr/>
            <p:nvPr/>
          </p:nvSpPr>
          <p:spPr>
            <a:xfrm>
              <a:off x="5102279" y="3593645"/>
              <a:ext cx="674987" cy="674355"/>
            </a:xfrm>
            <a:prstGeom prst="flowChartConnector">
              <a:avLst/>
            </a:prstGeom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EED02682-551B-E01C-F0D8-0B03BEF6F725}"/>
                </a:ext>
              </a:extLst>
            </p:cNvPr>
            <p:cNvSpPr txBox="1"/>
            <p:nvPr/>
          </p:nvSpPr>
          <p:spPr>
            <a:xfrm>
              <a:off x="5096411" y="3748419"/>
              <a:ext cx="6495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>
                  <a:latin typeface="MV Boli" panose="02000500030200090000" pitchFamily="2" charset="0"/>
                  <a:cs typeface="MV Boli" panose="02000500030200090000" pitchFamily="2" charset="0"/>
                </a:rPr>
                <a:t>Top-K Chunks</a:t>
              </a:r>
            </a:p>
          </p:txBody>
        </p:sp>
      </p:grp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B7B460EB-30C3-D629-EEF6-DB06FA3FE4FF}"/>
              </a:ext>
            </a:extLst>
          </p:cNvPr>
          <p:cNvGrpSpPr/>
          <p:nvPr/>
        </p:nvGrpSpPr>
        <p:grpSpPr>
          <a:xfrm>
            <a:off x="432474" y="1503095"/>
            <a:ext cx="4115197" cy="1842142"/>
            <a:chOff x="569693" y="1540884"/>
            <a:chExt cx="4115197" cy="1842142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676291A8-58C3-FCC2-B142-D0A1294F7915}"/>
                </a:ext>
              </a:extLst>
            </p:cNvPr>
            <p:cNvSpPr/>
            <p:nvPr/>
          </p:nvSpPr>
          <p:spPr>
            <a:xfrm>
              <a:off x="600100" y="1540884"/>
              <a:ext cx="1410964" cy="4103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b="1" cap="none" spc="0" dirty="0">
                  <a:ln w="0"/>
                  <a:solidFill>
                    <a:schemeClr val="accent6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V Boli" panose="02000500030200090000" pitchFamily="2" charset="0"/>
                  <a:cs typeface="MV Boli" panose="02000500030200090000" pitchFamily="2" charset="0"/>
                </a:rPr>
                <a:t>Embedding</a:t>
              </a:r>
              <a:endParaRPr lang="zh-CN" altLang="en-US" sz="2000" b="1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79CA4BD-D6CD-9638-4683-8AB429C13317}"/>
                </a:ext>
              </a:extLst>
            </p:cNvPr>
            <p:cNvSpPr/>
            <p:nvPr/>
          </p:nvSpPr>
          <p:spPr>
            <a:xfrm>
              <a:off x="569693" y="1839630"/>
              <a:ext cx="4096237" cy="1484130"/>
            </a:xfrm>
            <a:prstGeom prst="roundRect">
              <a:avLst/>
            </a:prstGeom>
            <a:noFill/>
            <a:ln w="3810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7" name="图形 86" descr="齿轮 纯色填充">
              <a:extLst>
                <a:ext uri="{FF2B5EF4-FFF2-40B4-BE49-F238E27FC236}">
                  <a16:creationId xmlns:a16="http://schemas.microsoft.com/office/drawing/2014/main" id="{32D62AD2-1646-BE85-F911-FCBF42F95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641798" y="2094942"/>
              <a:ext cx="512956" cy="428832"/>
            </a:xfrm>
            <a:prstGeom prst="rect">
              <a:avLst/>
            </a:prstGeom>
          </p:spPr>
        </p:pic>
        <p:sp>
          <p:nvSpPr>
            <p:cNvPr id="88" name="箭头: 右 87">
              <a:extLst>
                <a:ext uri="{FF2B5EF4-FFF2-40B4-BE49-F238E27FC236}">
                  <a16:creationId xmlns:a16="http://schemas.microsoft.com/office/drawing/2014/main" id="{BF57B174-0F95-98ED-51C2-78469B91DBEB}"/>
                </a:ext>
              </a:extLst>
            </p:cNvPr>
            <p:cNvSpPr/>
            <p:nvPr/>
          </p:nvSpPr>
          <p:spPr>
            <a:xfrm>
              <a:off x="1594257" y="2468298"/>
              <a:ext cx="608038" cy="151781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9DF32934-CDD7-C34D-D587-0BF496533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688008" y="2652241"/>
              <a:ext cx="354820" cy="319922"/>
            </a:xfrm>
            <a:prstGeom prst="rect">
              <a:avLst/>
            </a:prstGeom>
          </p:spPr>
        </p:pic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E0EE4314-DCE2-7D2C-026D-ACE2370ACC3E}"/>
                </a:ext>
              </a:extLst>
            </p:cNvPr>
            <p:cNvSpPr txBox="1"/>
            <p:nvPr/>
          </p:nvSpPr>
          <p:spPr>
            <a:xfrm>
              <a:off x="1469196" y="1931050"/>
              <a:ext cx="858160" cy="262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Processing</a:t>
              </a:r>
              <a:endParaRPr lang="zh-CN" altLang="en-US" sz="105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0A5D191A-C679-DEBC-6094-8C3DEBEC39E0}"/>
                </a:ext>
              </a:extLst>
            </p:cNvPr>
            <p:cNvSpPr txBox="1"/>
            <p:nvPr/>
          </p:nvSpPr>
          <p:spPr>
            <a:xfrm>
              <a:off x="1423789" y="3003802"/>
              <a:ext cx="948974" cy="262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Truncation</a:t>
              </a:r>
              <a:endParaRPr lang="zh-CN" altLang="en-US" sz="105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9F2BA123-76C7-8A99-EC0B-A3419DA1C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0450" y="2204658"/>
              <a:ext cx="624014" cy="638231"/>
            </a:xfrm>
            <a:prstGeom prst="rect">
              <a:avLst/>
            </a:prstGeom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3F0CC55C-49BD-D620-CCE4-1B48B27FC90E}"/>
                </a:ext>
              </a:extLst>
            </p:cNvPr>
            <p:cNvSpPr txBox="1"/>
            <p:nvPr/>
          </p:nvSpPr>
          <p:spPr>
            <a:xfrm>
              <a:off x="2275027" y="2861839"/>
              <a:ext cx="948974" cy="445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Ollama</a:t>
              </a:r>
              <a:b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</a:br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Embedding</a:t>
              </a:r>
              <a:endParaRPr lang="zh-CN" altLang="en-US" sz="105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103" name="箭头: 右 102">
              <a:extLst>
                <a:ext uri="{FF2B5EF4-FFF2-40B4-BE49-F238E27FC236}">
                  <a16:creationId xmlns:a16="http://schemas.microsoft.com/office/drawing/2014/main" id="{D87579A7-926E-41EC-D9CE-CA05DB1A1C4B}"/>
                </a:ext>
              </a:extLst>
            </p:cNvPr>
            <p:cNvSpPr/>
            <p:nvPr/>
          </p:nvSpPr>
          <p:spPr>
            <a:xfrm>
              <a:off x="3238475" y="2488128"/>
              <a:ext cx="597730" cy="151780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D99E25A-E0F8-5B1A-D830-D37FF3083BEE}"/>
                </a:ext>
              </a:extLst>
            </p:cNvPr>
            <p:cNvSpPr txBox="1"/>
            <p:nvPr/>
          </p:nvSpPr>
          <p:spPr>
            <a:xfrm>
              <a:off x="3055066" y="1959659"/>
              <a:ext cx="982088" cy="478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Up to 3 retries </a:t>
              </a:r>
              <a:b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</a:br>
              <a:r>
                <a:rPr lang="en-US" altLang="zh-CN" sz="1050" b="1" dirty="0">
                  <a:latin typeface="MV Boli" panose="02000500030200090000" pitchFamily="2" charset="0"/>
                  <a:cs typeface="MV Boli" panose="02000500030200090000" pitchFamily="2" charset="0"/>
                </a:rPr>
                <a:t>(1s, 2s, 4s)</a:t>
              </a:r>
              <a:endParaRPr lang="zh-CN" altLang="en-US" sz="105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A2AC84A8-174D-A88C-6595-5EADBBAD95CF}"/>
                </a:ext>
              </a:extLst>
            </p:cNvPr>
            <p:cNvPicPr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3" t="16994" r="9151" b="16044"/>
            <a:stretch>
              <a:fillRect/>
            </a:stretch>
          </p:blipFill>
          <p:spPr>
            <a:xfrm>
              <a:off x="3319865" y="2695351"/>
              <a:ext cx="434950" cy="354789"/>
            </a:xfrm>
            <a:prstGeom prst="rect">
              <a:avLst/>
            </a:prstGeom>
          </p:spPr>
        </p:pic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165BF844-56FA-8A5A-080C-0A1CC04CE1E4}"/>
                </a:ext>
              </a:extLst>
            </p:cNvPr>
            <p:cNvGrpSpPr/>
            <p:nvPr/>
          </p:nvGrpSpPr>
          <p:grpSpPr>
            <a:xfrm>
              <a:off x="3697569" y="2040868"/>
              <a:ext cx="987321" cy="1342158"/>
              <a:chOff x="5669785" y="4036008"/>
              <a:chExt cx="987321" cy="1713853"/>
            </a:xfrm>
          </p:grpSpPr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4718FD4-977F-E01B-88E4-65AD304E8FDC}"/>
                  </a:ext>
                </a:extLst>
              </p:cNvPr>
              <p:cNvSpPr txBox="1"/>
              <p:nvPr/>
            </p:nvSpPr>
            <p:spPr>
              <a:xfrm>
                <a:off x="6022958" y="4036008"/>
                <a:ext cx="42070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v⃗</a:t>
                </a:r>
                <a:endParaRPr lang="zh-CN" altLang="en-US" sz="1200" b="1" dirty="0"/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857DD871-6E43-2A60-9024-1C6B4A3BA034}"/>
                  </a:ext>
                </a:extLst>
              </p:cNvPr>
              <p:cNvSpPr txBox="1"/>
              <p:nvPr/>
            </p:nvSpPr>
            <p:spPr>
              <a:xfrm>
                <a:off x="6022956" y="4437413"/>
                <a:ext cx="37033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…</a:t>
                </a:r>
                <a:endParaRPr lang="zh-CN" altLang="en-US" sz="1200" b="1" dirty="0"/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65F513FB-CE82-2A9D-801A-4B56A758B45D}"/>
                  </a:ext>
                </a:extLst>
              </p:cNvPr>
              <p:cNvSpPr txBox="1"/>
              <p:nvPr/>
            </p:nvSpPr>
            <p:spPr>
              <a:xfrm>
                <a:off x="5669785" y="4994166"/>
                <a:ext cx="987321" cy="755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Vectors</a:t>
                </a:r>
              </a:p>
              <a:p>
                <a:pPr algn="ctr"/>
                <a:r>
                  <a:rPr lang="en-US" altLang="zh-CN" sz="105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(chunk, </a:t>
                </a:r>
                <a:r>
                  <a:rPr lang="en-US" altLang="zh-CN" sz="1050" b="1" dirty="0" err="1">
                    <a:latin typeface="MV Boli" panose="02000500030200090000" pitchFamily="2" charset="0"/>
                    <a:cs typeface="MV Boli" panose="02000500030200090000" pitchFamily="2" charset="0"/>
                  </a:rPr>
                  <a:t>src</a:t>
                </a:r>
                <a:r>
                  <a:rPr lang="en-US" altLang="zh-CN" sz="105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, dept)</a:t>
                </a:r>
                <a:endParaRPr lang="zh-CN" altLang="en-US" sz="105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2DC4FC2A-6474-9B0F-12C0-5BD59AAC99DE}"/>
                  </a:ext>
                </a:extLst>
              </p:cNvPr>
              <p:cNvSpPr txBox="1"/>
              <p:nvPr/>
            </p:nvSpPr>
            <p:spPr>
              <a:xfrm>
                <a:off x="6022958" y="4270833"/>
                <a:ext cx="42070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v⃗</a:t>
                </a:r>
                <a:endParaRPr lang="zh-CN" altLang="en-US" sz="1200" b="1" dirty="0"/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C4F2695-C1C5-6FCA-1781-726252164F6E}"/>
                  </a:ext>
                </a:extLst>
              </p:cNvPr>
              <p:cNvSpPr txBox="1"/>
              <p:nvPr/>
            </p:nvSpPr>
            <p:spPr>
              <a:xfrm>
                <a:off x="6022956" y="4644157"/>
                <a:ext cx="42070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v⃗</a:t>
                </a:r>
                <a:endParaRPr lang="zh-CN" altLang="en-US" sz="1200" b="1" dirty="0"/>
              </a:p>
            </p:txBody>
          </p:sp>
        </p:grp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D6BEEA97-DC65-74AF-3F5A-B46DD312B16D}"/>
                </a:ext>
              </a:extLst>
            </p:cNvPr>
            <p:cNvSpPr txBox="1"/>
            <p:nvPr/>
          </p:nvSpPr>
          <p:spPr>
            <a:xfrm>
              <a:off x="676956" y="2111512"/>
              <a:ext cx="663905" cy="7259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[Dept]</a:t>
              </a:r>
              <a:endParaRPr lang="zh-CN" altLang="en-US" sz="1000" dirty="0"/>
            </a:p>
            <a:p>
              <a:r>
                <a:rPr lang="en-US" altLang="zh-CN" sz="1000" dirty="0"/>
                <a:t>[Title]</a:t>
              </a:r>
            </a:p>
            <a:p>
              <a:r>
                <a:rPr lang="en-US" altLang="zh-CN" sz="1000" dirty="0"/>
                <a:t>[Ask]</a:t>
              </a:r>
            </a:p>
            <a:p>
              <a:r>
                <a:rPr lang="en-US" altLang="zh-CN" sz="1000" dirty="0"/>
                <a:t>[Answer]</a:t>
              </a:r>
              <a:endParaRPr lang="zh-CN" altLang="en-US" sz="900" dirty="0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6E6F4E53-E4A7-D6B1-3EE3-E7B4C6FB765B}"/>
                </a:ext>
              </a:extLst>
            </p:cNvPr>
            <p:cNvSpPr txBox="1"/>
            <p:nvPr/>
          </p:nvSpPr>
          <p:spPr>
            <a:xfrm rot="5400000">
              <a:off x="3730896" y="2203604"/>
              <a:ext cx="911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            ]</a:t>
              </a:r>
              <a:endParaRPr lang="zh-CN" altLang="en-US" dirty="0"/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5D183E32-1E7B-FB85-BD49-4E67F64439E4}"/>
                </a:ext>
              </a:extLst>
            </p:cNvPr>
            <p:cNvSpPr txBox="1"/>
            <p:nvPr/>
          </p:nvSpPr>
          <p:spPr>
            <a:xfrm>
              <a:off x="759241" y="2183757"/>
              <a:ext cx="663905" cy="7259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[Dept]</a:t>
              </a:r>
              <a:endParaRPr lang="zh-CN" altLang="en-US" sz="1000" dirty="0"/>
            </a:p>
            <a:p>
              <a:r>
                <a:rPr lang="en-US" altLang="zh-CN" sz="1000" dirty="0"/>
                <a:t>[Title]</a:t>
              </a:r>
            </a:p>
            <a:p>
              <a:r>
                <a:rPr lang="en-US" altLang="zh-CN" sz="1000" dirty="0"/>
                <a:t>[Ask]</a:t>
              </a:r>
            </a:p>
            <a:p>
              <a:r>
                <a:rPr lang="en-US" altLang="zh-CN" sz="1000" dirty="0"/>
                <a:t>[Answer]</a:t>
              </a:r>
              <a:endParaRPr lang="zh-CN" altLang="en-US" sz="900" dirty="0"/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68A632E2-EF24-C71B-87A9-B9EFB00F9546}"/>
                </a:ext>
              </a:extLst>
            </p:cNvPr>
            <p:cNvSpPr txBox="1"/>
            <p:nvPr/>
          </p:nvSpPr>
          <p:spPr>
            <a:xfrm>
              <a:off x="829356" y="2263912"/>
              <a:ext cx="663905" cy="7259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[Dept]</a:t>
              </a:r>
              <a:endParaRPr lang="zh-CN" altLang="en-US" sz="1000" dirty="0"/>
            </a:p>
            <a:p>
              <a:r>
                <a:rPr lang="en-US" altLang="zh-CN" sz="1000" dirty="0"/>
                <a:t>[Title]</a:t>
              </a:r>
            </a:p>
            <a:p>
              <a:r>
                <a:rPr lang="en-US" altLang="zh-CN" sz="1000" dirty="0"/>
                <a:t>[Ask]</a:t>
              </a:r>
            </a:p>
            <a:p>
              <a:r>
                <a:rPr lang="en-US" altLang="zh-CN" sz="1000" dirty="0"/>
                <a:t>[Answer]</a:t>
              </a:r>
              <a:endParaRPr lang="zh-CN" altLang="en-US" sz="900" dirty="0"/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477B5CEF-8D91-D203-BEA4-3AB1872C8C22}"/>
              </a:ext>
            </a:extLst>
          </p:cNvPr>
          <p:cNvGrpSpPr/>
          <p:nvPr/>
        </p:nvGrpSpPr>
        <p:grpSpPr>
          <a:xfrm>
            <a:off x="1914360" y="165460"/>
            <a:ext cx="6822544" cy="1567410"/>
            <a:chOff x="1914360" y="165460"/>
            <a:chExt cx="6822544" cy="1567410"/>
          </a:xfrm>
        </p:grpSpPr>
        <p:grpSp>
          <p:nvGrpSpPr>
            <p:cNvPr id="228" name="组合 227">
              <a:extLst>
                <a:ext uri="{FF2B5EF4-FFF2-40B4-BE49-F238E27FC236}">
                  <a16:creationId xmlns:a16="http://schemas.microsoft.com/office/drawing/2014/main" id="{6B869B71-1C81-3E2D-2DA2-64576487B781}"/>
                </a:ext>
              </a:extLst>
            </p:cNvPr>
            <p:cNvGrpSpPr/>
            <p:nvPr/>
          </p:nvGrpSpPr>
          <p:grpSpPr>
            <a:xfrm>
              <a:off x="1914360" y="165460"/>
              <a:ext cx="6822544" cy="1567410"/>
              <a:chOff x="2107460" y="221669"/>
              <a:chExt cx="6917556" cy="1567410"/>
            </a:xfrm>
          </p:grpSpPr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A1A14CC-CB29-43F0-E45F-484F3ACC8A2F}"/>
                  </a:ext>
                </a:extLst>
              </p:cNvPr>
              <p:cNvSpPr/>
              <p:nvPr/>
            </p:nvSpPr>
            <p:spPr>
              <a:xfrm>
                <a:off x="2182779" y="1388969"/>
                <a:ext cx="1267838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000" b="1" cap="none" spc="0" dirty="0">
                    <a:ln w="0"/>
                    <a:solidFill>
                      <a:srgbClr val="FFC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MV Boli" panose="02000500030200090000" pitchFamily="2" charset="0"/>
                    <a:cs typeface="MV Boli" panose="02000500030200090000" pitchFamily="2" charset="0"/>
                  </a:rPr>
                  <a:t>Retrieval</a:t>
                </a:r>
                <a:endParaRPr lang="zh-CN" altLang="en-US" sz="2000" b="1" cap="none" spc="0" dirty="0">
                  <a:ln w="0"/>
                  <a:solidFill>
                    <a:srgbClr val="FFC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1DB2970A-5DFD-E98D-DB97-821496B1FDF6}"/>
                  </a:ext>
                </a:extLst>
              </p:cNvPr>
              <p:cNvSpPr/>
              <p:nvPr/>
            </p:nvSpPr>
            <p:spPr>
              <a:xfrm>
                <a:off x="2107460" y="221669"/>
                <a:ext cx="6917556" cy="1217293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DA8811A-E248-CAFC-3CDB-93B1C19061E7}"/>
                  </a:ext>
                </a:extLst>
              </p:cNvPr>
              <p:cNvSpPr txBox="1"/>
              <p:nvPr/>
            </p:nvSpPr>
            <p:spPr>
              <a:xfrm>
                <a:off x="3118551" y="839256"/>
                <a:ext cx="84467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Keyword Detection</a:t>
                </a:r>
                <a:endParaRPr lang="zh-CN" altLang="en-US" sz="110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0608A8D2-07CC-0C00-49E1-20AAFD72471C}"/>
                  </a:ext>
                </a:extLst>
              </p:cNvPr>
              <p:cNvGrpSpPr/>
              <p:nvPr/>
            </p:nvGrpSpPr>
            <p:grpSpPr>
              <a:xfrm>
                <a:off x="3715585" y="318281"/>
                <a:ext cx="668721" cy="526109"/>
                <a:chOff x="4071984" y="2177335"/>
                <a:chExt cx="668721" cy="526109"/>
              </a:xfrm>
            </p:grpSpPr>
            <p:sp>
              <p:nvSpPr>
                <p:cNvPr id="107" name="箭头: 右 106">
                  <a:extLst>
                    <a:ext uri="{FF2B5EF4-FFF2-40B4-BE49-F238E27FC236}">
                      <a16:creationId xmlns:a16="http://schemas.microsoft.com/office/drawing/2014/main" id="{E95A9FE5-46E1-40B9-3B27-83484326377D}"/>
                    </a:ext>
                  </a:extLst>
                </p:cNvPr>
                <p:cNvSpPr/>
                <p:nvPr/>
              </p:nvSpPr>
              <p:spPr>
                <a:xfrm>
                  <a:off x="4119760" y="2552869"/>
                  <a:ext cx="517317" cy="150575"/>
                </a:xfrm>
                <a:prstGeom prst="rightArrow">
                  <a:avLst>
                    <a:gd name="adj1" fmla="val 38514"/>
                    <a:gd name="adj2" fmla="val 77629"/>
                  </a:avLst>
                </a:prstGeom>
                <a:noFill/>
                <a:ln w="3810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92093D99-306F-22E1-A811-1C569DCD5BD0}"/>
                    </a:ext>
                  </a:extLst>
                </p:cNvPr>
                <p:cNvSpPr txBox="1"/>
                <p:nvPr/>
              </p:nvSpPr>
              <p:spPr>
                <a:xfrm>
                  <a:off x="4071984" y="2177335"/>
                  <a:ext cx="66872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Infer</a:t>
                  </a:r>
                  <a:br>
                    <a:rPr lang="en-US" altLang="zh-CN" sz="12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</a:br>
                  <a:r>
                    <a:rPr lang="en-US" altLang="zh-CN" sz="12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dept</a:t>
                  </a:r>
                  <a:endParaRPr lang="zh-CN" altLang="en-US" sz="1200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77BF8442-7D7F-97BF-BABD-BB0888D02C7E}"/>
                  </a:ext>
                </a:extLst>
              </p:cNvPr>
              <p:cNvGrpSpPr/>
              <p:nvPr/>
            </p:nvGrpSpPr>
            <p:grpSpPr>
              <a:xfrm>
                <a:off x="4292941" y="270180"/>
                <a:ext cx="913439" cy="1086985"/>
                <a:chOff x="7008130" y="360165"/>
                <a:chExt cx="907615" cy="1121084"/>
              </a:xfrm>
            </p:grpSpPr>
            <p:grpSp>
              <p:nvGrpSpPr>
                <p:cNvPr id="106" name="组合 105">
                  <a:extLst>
                    <a:ext uri="{FF2B5EF4-FFF2-40B4-BE49-F238E27FC236}">
                      <a16:creationId xmlns:a16="http://schemas.microsoft.com/office/drawing/2014/main" id="{3BBF4840-7FD6-6E82-298E-8ABA963A4905}"/>
                    </a:ext>
                  </a:extLst>
                </p:cNvPr>
                <p:cNvGrpSpPr/>
                <p:nvPr/>
              </p:nvGrpSpPr>
              <p:grpSpPr>
                <a:xfrm>
                  <a:off x="7008130" y="360165"/>
                  <a:ext cx="897151" cy="384221"/>
                  <a:chOff x="6708600" y="3274168"/>
                  <a:chExt cx="897151" cy="384221"/>
                </a:xfrm>
              </p:grpSpPr>
              <p:pic>
                <p:nvPicPr>
                  <p:cNvPr id="104" name="图片 103">
                    <a:extLst>
                      <a:ext uri="{FF2B5EF4-FFF2-40B4-BE49-F238E27FC236}">
                        <a16:creationId xmlns:a16="http://schemas.microsoft.com/office/drawing/2014/main" id="{0F7B6310-64B1-3D3E-9C9D-D04CF91D45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19064" y="3274168"/>
                    <a:ext cx="886687" cy="334087"/>
                  </a:xfrm>
                  <a:prstGeom prst="rect">
                    <a:avLst/>
                  </a:prstGeom>
                </p:spPr>
              </p:pic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B5E69AB8-E5B7-38E2-286D-E3F25E3B4DD1}"/>
                      </a:ext>
                    </a:extLst>
                  </p:cNvPr>
                  <p:cNvSpPr txBox="1"/>
                  <p:nvPr/>
                </p:nvSpPr>
                <p:spPr>
                  <a:xfrm>
                    <a:off x="6708600" y="3277471"/>
                    <a:ext cx="726696" cy="3809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00" b="1" dirty="0">
                        <a:latin typeface="MV Boli" panose="02000500030200090000" pitchFamily="2" charset="0"/>
                        <a:cs typeface="MV Boli" panose="02000500030200090000" pitchFamily="2" charset="0"/>
                      </a:rPr>
                      <a:t>Canonical  dept 1</a:t>
                    </a:r>
                    <a:endParaRPr lang="zh-CN" altLang="en-US" sz="900" b="1" dirty="0">
                      <a:latin typeface="MV Boli" panose="02000500030200090000" pitchFamily="2" charset="0"/>
                      <a:cs typeface="MV Boli" panose="02000500030200090000" pitchFamily="2" charset="0"/>
                    </a:endParaRPr>
                  </a:p>
                </p:txBody>
              </p:sp>
            </p:grpSp>
            <p:grpSp>
              <p:nvGrpSpPr>
                <p:cNvPr id="109" name="组合 108">
                  <a:extLst>
                    <a:ext uri="{FF2B5EF4-FFF2-40B4-BE49-F238E27FC236}">
                      <a16:creationId xmlns:a16="http://schemas.microsoft.com/office/drawing/2014/main" id="{AF4D88E4-2191-31FC-7E10-6791D74E6E88}"/>
                    </a:ext>
                  </a:extLst>
                </p:cNvPr>
                <p:cNvGrpSpPr/>
                <p:nvPr/>
              </p:nvGrpSpPr>
              <p:grpSpPr>
                <a:xfrm>
                  <a:off x="7018594" y="726308"/>
                  <a:ext cx="897151" cy="384221"/>
                  <a:chOff x="6708600" y="3274168"/>
                  <a:chExt cx="897151" cy="384221"/>
                </a:xfrm>
              </p:grpSpPr>
              <p:pic>
                <p:nvPicPr>
                  <p:cNvPr id="110" name="图片 109">
                    <a:extLst>
                      <a:ext uri="{FF2B5EF4-FFF2-40B4-BE49-F238E27FC236}">
                        <a16:creationId xmlns:a16="http://schemas.microsoft.com/office/drawing/2014/main" id="{30DD56C1-185F-B18F-BBDF-7B8EE3D76E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19064" y="3274168"/>
                    <a:ext cx="886687" cy="334087"/>
                  </a:xfrm>
                  <a:prstGeom prst="rect">
                    <a:avLst/>
                  </a:prstGeom>
                </p:spPr>
              </p:pic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BA20D5A8-D847-2185-3E1C-9A0EF9F485E7}"/>
                      </a:ext>
                    </a:extLst>
                  </p:cNvPr>
                  <p:cNvSpPr txBox="1"/>
                  <p:nvPr/>
                </p:nvSpPr>
                <p:spPr>
                  <a:xfrm>
                    <a:off x="6708600" y="3277471"/>
                    <a:ext cx="726696" cy="3809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00" b="1" dirty="0">
                        <a:latin typeface="MV Boli" panose="02000500030200090000" pitchFamily="2" charset="0"/>
                        <a:cs typeface="MV Boli" panose="02000500030200090000" pitchFamily="2" charset="0"/>
                      </a:rPr>
                      <a:t>Canonical  dept …</a:t>
                    </a:r>
                    <a:endParaRPr lang="zh-CN" altLang="en-US" sz="900" b="1" dirty="0">
                      <a:latin typeface="MV Boli" panose="02000500030200090000" pitchFamily="2" charset="0"/>
                      <a:cs typeface="MV Boli" panose="02000500030200090000" pitchFamily="2" charset="0"/>
                    </a:endParaRPr>
                  </a:p>
                </p:txBody>
              </p:sp>
            </p:grpSp>
            <p:grpSp>
              <p:nvGrpSpPr>
                <p:cNvPr id="113" name="组合 112">
                  <a:extLst>
                    <a:ext uri="{FF2B5EF4-FFF2-40B4-BE49-F238E27FC236}">
                      <a16:creationId xmlns:a16="http://schemas.microsoft.com/office/drawing/2014/main" id="{3966838D-2E7D-D162-4143-170D357D1B4D}"/>
                    </a:ext>
                  </a:extLst>
                </p:cNvPr>
                <p:cNvGrpSpPr/>
                <p:nvPr/>
              </p:nvGrpSpPr>
              <p:grpSpPr>
                <a:xfrm>
                  <a:off x="7013361" y="1097028"/>
                  <a:ext cx="897151" cy="384221"/>
                  <a:chOff x="6708600" y="3274168"/>
                  <a:chExt cx="897151" cy="384221"/>
                </a:xfrm>
              </p:grpSpPr>
              <p:pic>
                <p:nvPicPr>
                  <p:cNvPr id="115" name="图片 114">
                    <a:extLst>
                      <a:ext uri="{FF2B5EF4-FFF2-40B4-BE49-F238E27FC236}">
                        <a16:creationId xmlns:a16="http://schemas.microsoft.com/office/drawing/2014/main" id="{A2FFCCCB-3AF8-C8CA-AC5A-C43E862C0A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19064" y="3274168"/>
                    <a:ext cx="886687" cy="334087"/>
                  </a:xfrm>
                  <a:prstGeom prst="rect">
                    <a:avLst/>
                  </a:prstGeom>
                </p:spPr>
              </p:pic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CE07CA4C-FC86-3C15-92AB-2DFFADC0AFB2}"/>
                      </a:ext>
                    </a:extLst>
                  </p:cNvPr>
                  <p:cNvSpPr txBox="1"/>
                  <p:nvPr/>
                </p:nvSpPr>
                <p:spPr>
                  <a:xfrm>
                    <a:off x="6708600" y="3277471"/>
                    <a:ext cx="726696" cy="38091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00" b="1" dirty="0">
                        <a:latin typeface="MV Boli" panose="02000500030200090000" pitchFamily="2" charset="0"/>
                        <a:cs typeface="MV Boli" panose="02000500030200090000" pitchFamily="2" charset="0"/>
                      </a:rPr>
                      <a:t>Canonical  dept n</a:t>
                    </a:r>
                    <a:endParaRPr lang="zh-CN" altLang="en-US" sz="900" b="1" dirty="0">
                      <a:latin typeface="MV Boli" panose="02000500030200090000" pitchFamily="2" charset="0"/>
                      <a:cs typeface="MV Boli" panose="02000500030200090000" pitchFamily="2" charset="0"/>
                    </a:endParaRPr>
                  </a:p>
                </p:txBody>
              </p:sp>
            </p:grpSp>
          </p:grpSp>
          <p:pic>
            <p:nvPicPr>
              <p:cNvPr id="117" name="图形 116" descr="数据库 纯色填充">
                <a:extLst>
                  <a:ext uri="{FF2B5EF4-FFF2-40B4-BE49-F238E27FC236}">
                    <a16:creationId xmlns:a16="http://schemas.microsoft.com/office/drawing/2014/main" id="{65EE9553-198A-0F0C-3BCC-3D2CA33FC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518775" y="419797"/>
                <a:ext cx="707427" cy="623387"/>
              </a:xfrm>
              <a:prstGeom prst="rect">
                <a:avLst/>
              </a:prstGeom>
            </p:spPr>
          </p:pic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1EF4696F-B1BF-1771-0BE4-B607FDF736B9}"/>
                  </a:ext>
                </a:extLst>
              </p:cNvPr>
              <p:cNvSpPr txBox="1"/>
              <p:nvPr/>
            </p:nvSpPr>
            <p:spPr>
              <a:xfrm>
                <a:off x="5400132" y="951478"/>
                <a:ext cx="9447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Vector</a:t>
                </a:r>
              </a:p>
              <a:p>
                <a:pPr algn="ctr"/>
                <a:r>
                  <a:rPr lang="en-US" altLang="zh-CN" sz="10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DB</a:t>
                </a:r>
                <a:endParaRPr lang="zh-CN" altLang="en-US" sz="100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20" name="箭头: 右 119">
                <a:extLst>
                  <a:ext uri="{FF2B5EF4-FFF2-40B4-BE49-F238E27FC236}">
                    <a16:creationId xmlns:a16="http://schemas.microsoft.com/office/drawing/2014/main" id="{35F0FC69-BDDD-FB13-FA18-A187A9659A6E}"/>
                  </a:ext>
                </a:extLst>
              </p:cNvPr>
              <p:cNvSpPr/>
              <p:nvPr/>
            </p:nvSpPr>
            <p:spPr>
              <a:xfrm>
                <a:off x="5227462" y="695384"/>
                <a:ext cx="393266" cy="169125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446FF81-AB41-CA63-0893-29FADA774F5B}"/>
                  </a:ext>
                </a:extLst>
              </p:cNvPr>
              <p:cNvSpPr txBox="1"/>
              <p:nvPr/>
            </p:nvSpPr>
            <p:spPr>
              <a:xfrm>
                <a:off x="5081144" y="502948"/>
                <a:ext cx="7118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Search</a:t>
                </a:r>
                <a:endParaRPr lang="zh-CN" altLang="en-US" sz="120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002BC0F2-374A-CE5F-08EA-448FA4AD81C7}"/>
                  </a:ext>
                </a:extLst>
              </p:cNvPr>
              <p:cNvSpPr/>
              <p:nvPr/>
            </p:nvSpPr>
            <p:spPr>
              <a:xfrm>
                <a:off x="4718667" y="319392"/>
                <a:ext cx="362477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zh-CN" altLang="en-US" sz="2000" b="1" cap="none" spc="0" dirty="0">
                    <a:ln w="0"/>
                    <a:solidFill>
                      <a:srgbClr val="FFC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MV Boli" panose="02000500030200090000" pitchFamily="2" charset="0"/>
                    <a:cs typeface="MV Boli" panose="02000500030200090000" pitchFamily="2" charset="0"/>
                  </a:rPr>
                  <a:t>√</a:t>
                </a:r>
              </a:p>
            </p:txBody>
          </p:sp>
          <p:sp>
            <p:nvSpPr>
              <p:cNvPr id="139" name="箭头: 右 138">
                <a:extLst>
                  <a:ext uri="{FF2B5EF4-FFF2-40B4-BE49-F238E27FC236}">
                    <a16:creationId xmlns:a16="http://schemas.microsoft.com/office/drawing/2014/main" id="{84097012-DCAE-F44C-C074-A0CC21D6B269}"/>
                  </a:ext>
                </a:extLst>
              </p:cNvPr>
              <p:cNvSpPr/>
              <p:nvPr/>
            </p:nvSpPr>
            <p:spPr>
              <a:xfrm>
                <a:off x="6155448" y="682424"/>
                <a:ext cx="393266" cy="169125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9EDA732F-8AA4-34ED-E0D9-EB18333B9843}"/>
                  </a:ext>
                </a:extLst>
              </p:cNvPr>
              <p:cNvGrpSpPr/>
              <p:nvPr/>
            </p:nvGrpSpPr>
            <p:grpSpPr>
              <a:xfrm>
                <a:off x="7193078" y="375571"/>
                <a:ext cx="944711" cy="1092993"/>
                <a:chOff x="6088502" y="2083464"/>
                <a:chExt cx="944711" cy="1092993"/>
              </a:xfrm>
            </p:grpSpPr>
            <p:grpSp>
              <p:nvGrpSpPr>
                <p:cNvPr id="130" name="组合 129">
                  <a:extLst>
                    <a:ext uri="{FF2B5EF4-FFF2-40B4-BE49-F238E27FC236}">
                      <a16:creationId xmlns:a16="http://schemas.microsoft.com/office/drawing/2014/main" id="{833925B8-3D18-B781-B70F-C3AC99FD92D3}"/>
                    </a:ext>
                  </a:extLst>
                </p:cNvPr>
                <p:cNvGrpSpPr/>
                <p:nvPr/>
              </p:nvGrpSpPr>
              <p:grpSpPr>
                <a:xfrm>
                  <a:off x="6411965" y="2083464"/>
                  <a:ext cx="368374" cy="683255"/>
                  <a:chOff x="4468291" y="3283569"/>
                  <a:chExt cx="437445" cy="909717"/>
                </a:xfrm>
              </p:grpSpPr>
              <p:sp>
                <p:nvSpPr>
                  <p:cNvPr id="132" name="矩形: 折角 131">
                    <a:extLst>
                      <a:ext uri="{FF2B5EF4-FFF2-40B4-BE49-F238E27FC236}">
                        <a16:creationId xmlns:a16="http://schemas.microsoft.com/office/drawing/2014/main" id="{E0927D91-DA15-68BB-04C1-CDC57E1C416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298" y="3283569"/>
                    <a:ext cx="437436" cy="444818"/>
                  </a:xfrm>
                  <a:prstGeom prst="foldedCorner">
                    <a:avLst>
                      <a:gd name="adj" fmla="val 43961"/>
                    </a:avLst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4" name="矩形: 折角 133">
                    <a:extLst>
                      <a:ext uri="{FF2B5EF4-FFF2-40B4-BE49-F238E27FC236}">
                        <a16:creationId xmlns:a16="http://schemas.microsoft.com/office/drawing/2014/main" id="{EA78F602-4030-FD3F-DE16-52A42531954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298" y="3438535"/>
                    <a:ext cx="437436" cy="444818"/>
                  </a:xfrm>
                  <a:prstGeom prst="foldedCorner">
                    <a:avLst>
                      <a:gd name="adj" fmla="val 43961"/>
                    </a:avLst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" name="矩形: 折角 134">
                    <a:extLst>
                      <a:ext uri="{FF2B5EF4-FFF2-40B4-BE49-F238E27FC236}">
                        <a16:creationId xmlns:a16="http://schemas.microsoft.com/office/drawing/2014/main" id="{3CA8CB1E-6C18-62D0-B12F-3341D78D91F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291" y="3593503"/>
                    <a:ext cx="437436" cy="444818"/>
                  </a:xfrm>
                  <a:prstGeom prst="foldedCorner">
                    <a:avLst>
                      <a:gd name="adj" fmla="val 43961"/>
                    </a:avLst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6" name="矩形: 折角 135">
                    <a:extLst>
                      <a:ext uri="{FF2B5EF4-FFF2-40B4-BE49-F238E27FC236}">
                        <a16:creationId xmlns:a16="http://schemas.microsoft.com/office/drawing/2014/main" id="{9693FD8B-2AFF-F084-FB98-608DC002732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300" y="3748468"/>
                    <a:ext cx="437436" cy="444818"/>
                  </a:xfrm>
                  <a:prstGeom prst="foldedCorner">
                    <a:avLst>
                      <a:gd name="adj" fmla="val 43961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EF8E64F-BFB7-14B6-6E70-C7FE2D9A3925}"/>
                    </a:ext>
                  </a:extLst>
                </p:cNvPr>
                <p:cNvSpPr txBox="1"/>
                <p:nvPr/>
              </p:nvSpPr>
              <p:spPr>
                <a:xfrm>
                  <a:off x="6088502" y="2776347"/>
                  <a:ext cx="944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Candidate pool</a:t>
                  </a:r>
                </a:p>
              </p:txBody>
            </p:sp>
          </p:grp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0ED393AB-EB4B-4F15-3A3B-CF02861E9E55}"/>
                  </a:ext>
                </a:extLst>
              </p:cNvPr>
              <p:cNvGrpSpPr/>
              <p:nvPr/>
            </p:nvGrpSpPr>
            <p:grpSpPr>
              <a:xfrm>
                <a:off x="6438321" y="421376"/>
                <a:ext cx="768189" cy="931538"/>
                <a:chOff x="6092338" y="3663094"/>
                <a:chExt cx="914401" cy="1193448"/>
              </a:xfrm>
            </p:grpSpPr>
            <p:pic>
              <p:nvPicPr>
                <p:cNvPr id="143" name="图形 142" descr="沙漏已完成 纯色填充">
                  <a:extLst>
                    <a:ext uri="{FF2B5EF4-FFF2-40B4-BE49-F238E27FC236}">
                      <a16:creationId xmlns:a16="http://schemas.microsoft.com/office/drawing/2014/main" id="{C0F8ECC0-06F0-AB1F-3930-DE94587749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81812" y="3663094"/>
                  <a:ext cx="768189" cy="768189"/>
                </a:xfrm>
                <a:prstGeom prst="rect">
                  <a:avLst/>
                </a:prstGeom>
              </p:spPr>
            </p:pic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DCA64F7-66D9-6577-FA36-CF506C08FD14}"/>
                    </a:ext>
                  </a:extLst>
                </p:cNvPr>
                <p:cNvSpPr txBox="1"/>
                <p:nvPr/>
              </p:nvSpPr>
              <p:spPr>
                <a:xfrm>
                  <a:off x="6092338" y="4324223"/>
                  <a:ext cx="914401" cy="532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5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Cosine</a:t>
                  </a:r>
                </a:p>
                <a:p>
                  <a:pPr algn="ctr"/>
                  <a:r>
                    <a:rPr lang="en-US" altLang="zh-CN" sz="1050" b="1" dirty="0">
                      <a:latin typeface="MV Boli" panose="02000500030200090000" pitchFamily="2" charset="0"/>
                      <a:cs typeface="MV Boli" panose="02000500030200090000" pitchFamily="2" charset="0"/>
                    </a:rPr>
                    <a:t>Similarity</a:t>
                  </a:r>
                  <a:endParaRPr lang="zh-CN" altLang="en-US" sz="1050" b="1" dirty="0">
                    <a:latin typeface="MV Boli" panose="02000500030200090000" pitchFamily="2" charset="0"/>
                    <a:cs typeface="MV Boli" panose="02000500030200090000" pitchFamily="2" charset="0"/>
                  </a:endParaRPr>
                </a:p>
              </p:txBody>
            </p:sp>
          </p:grpSp>
          <p:pic>
            <p:nvPicPr>
              <p:cNvPr id="60" name="图形 59" descr="放大镜 纯色填充">
                <a:extLst>
                  <a:ext uri="{FF2B5EF4-FFF2-40B4-BE49-F238E27FC236}">
                    <a16:creationId xmlns:a16="http://schemas.microsoft.com/office/drawing/2014/main" id="{163D9DAC-D88D-CE15-3EC6-50EA11F65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3226855" y="402964"/>
                <a:ext cx="519104" cy="519104"/>
              </a:xfrm>
              <a:prstGeom prst="rect">
                <a:avLst/>
              </a:prstGeom>
            </p:spPr>
          </p:pic>
          <p:sp>
            <p:nvSpPr>
              <p:cNvPr id="63" name="箭头: 右 62">
                <a:extLst>
                  <a:ext uri="{FF2B5EF4-FFF2-40B4-BE49-F238E27FC236}">
                    <a16:creationId xmlns:a16="http://schemas.microsoft.com/office/drawing/2014/main" id="{D5F20DC7-310C-61CA-C88D-2F9043EBB520}"/>
                  </a:ext>
                </a:extLst>
              </p:cNvPr>
              <p:cNvSpPr/>
              <p:nvPr/>
            </p:nvSpPr>
            <p:spPr>
              <a:xfrm>
                <a:off x="7036540" y="675266"/>
                <a:ext cx="390339" cy="189243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75" name="图形 174" descr="聊天气泡 纯色填充">
                <a:extLst>
                  <a:ext uri="{FF2B5EF4-FFF2-40B4-BE49-F238E27FC236}">
                    <a16:creationId xmlns:a16="http://schemas.microsoft.com/office/drawing/2014/main" id="{6B0E9D44-66AE-B693-0AD9-7A1FC7F00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155245" y="500538"/>
                <a:ext cx="623943" cy="623943"/>
              </a:xfrm>
              <a:prstGeom prst="rect">
                <a:avLst/>
              </a:prstGeom>
            </p:spPr>
          </p:pic>
          <p:sp>
            <p:nvSpPr>
              <p:cNvPr id="185" name="箭头: 右 184">
                <a:extLst>
                  <a:ext uri="{FF2B5EF4-FFF2-40B4-BE49-F238E27FC236}">
                    <a16:creationId xmlns:a16="http://schemas.microsoft.com/office/drawing/2014/main" id="{461B678C-CF47-1F98-01B6-CF940874E5F7}"/>
                  </a:ext>
                </a:extLst>
              </p:cNvPr>
              <p:cNvSpPr/>
              <p:nvPr/>
            </p:nvSpPr>
            <p:spPr>
              <a:xfrm>
                <a:off x="2776185" y="686658"/>
                <a:ext cx="420228" cy="146340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箭头: 右 222">
                <a:extLst>
                  <a:ext uri="{FF2B5EF4-FFF2-40B4-BE49-F238E27FC236}">
                    <a16:creationId xmlns:a16="http://schemas.microsoft.com/office/drawing/2014/main" id="{0F89FEF9-D9CB-ED83-17BF-9123C61D8D6D}"/>
                  </a:ext>
                </a:extLst>
              </p:cNvPr>
              <p:cNvSpPr/>
              <p:nvPr/>
            </p:nvSpPr>
            <p:spPr>
              <a:xfrm>
                <a:off x="7986187" y="675266"/>
                <a:ext cx="310644" cy="189243"/>
              </a:xfrm>
              <a:prstGeom prst="rightArrow">
                <a:avLst>
                  <a:gd name="adj1" fmla="val 38514"/>
                  <a:gd name="adj2" fmla="val 77629"/>
                </a:avLst>
              </a:pr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9BA58820-A27A-27BF-6785-9A207A88F93B}"/>
                  </a:ext>
                </a:extLst>
              </p:cNvPr>
              <p:cNvSpPr txBox="1"/>
              <p:nvPr/>
            </p:nvSpPr>
            <p:spPr>
              <a:xfrm>
                <a:off x="8259245" y="1034277"/>
                <a:ext cx="6495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Top-K Chunks</a:t>
                </a:r>
              </a:p>
            </p:txBody>
          </p:sp>
        </p:grpSp>
        <p:pic>
          <p:nvPicPr>
            <p:cNvPr id="239" name="图形 238" descr="列表 纯色填充">
              <a:extLst>
                <a:ext uri="{FF2B5EF4-FFF2-40B4-BE49-F238E27FC236}">
                  <a16:creationId xmlns:a16="http://schemas.microsoft.com/office/drawing/2014/main" id="{DC725D42-007D-412C-4F42-F1C7332CC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959926" y="301667"/>
              <a:ext cx="723251" cy="723251"/>
            </a:xfrm>
            <a:prstGeom prst="rect">
              <a:avLst/>
            </a:prstGeom>
          </p:spPr>
        </p:pic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AB94EB78-98E8-3343-A407-126FE13E5D1E}"/>
              </a:ext>
            </a:extLst>
          </p:cNvPr>
          <p:cNvGrpSpPr/>
          <p:nvPr/>
        </p:nvGrpSpPr>
        <p:grpSpPr>
          <a:xfrm>
            <a:off x="4659405" y="4627473"/>
            <a:ext cx="4061473" cy="1865570"/>
            <a:chOff x="4527828" y="4546593"/>
            <a:chExt cx="4061473" cy="1865570"/>
          </a:xfrm>
        </p:grpSpPr>
        <p:sp>
          <p:nvSpPr>
            <p:cNvPr id="237" name="矩形: 圆角 236">
              <a:extLst>
                <a:ext uri="{FF2B5EF4-FFF2-40B4-BE49-F238E27FC236}">
                  <a16:creationId xmlns:a16="http://schemas.microsoft.com/office/drawing/2014/main" id="{C328F063-FCF7-985F-0914-621FBA645F8F}"/>
                </a:ext>
              </a:extLst>
            </p:cNvPr>
            <p:cNvSpPr/>
            <p:nvPr/>
          </p:nvSpPr>
          <p:spPr>
            <a:xfrm>
              <a:off x="4528711" y="4546593"/>
              <a:ext cx="4004493" cy="1865570"/>
            </a:xfrm>
            <a:prstGeom prst="roundRect">
              <a:avLst/>
            </a:prstGeom>
            <a:noFill/>
            <a:ln w="38100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5EA33BDB-E243-C459-C1FB-C130207EAFB2}"/>
                </a:ext>
              </a:extLst>
            </p:cNvPr>
            <p:cNvGrpSpPr/>
            <p:nvPr/>
          </p:nvGrpSpPr>
          <p:grpSpPr>
            <a:xfrm>
              <a:off x="4527828" y="5002686"/>
              <a:ext cx="768321" cy="1157419"/>
              <a:chOff x="4527828" y="5002686"/>
              <a:chExt cx="768321" cy="1157419"/>
            </a:xfrm>
          </p:grpSpPr>
          <p:pic>
            <p:nvPicPr>
              <p:cNvPr id="240" name="图形 239" descr="文档 纯色填充">
                <a:extLst>
                  <a:ext uri="{FF2B5EF4-FFF2-40B4-BE49-F238E27FC236}">
                    <a16:creationId xmlns:a16="http://schemas.microsoft.com/office/drawing/2014/main" id="{42F5A4BB-80D1-DD41-9C2C-B84B4D427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4550075" y="5002686"/>
                <a:ext cx="723828" cy="733908"/>
              </a:xfrm>
              <a:prstGeom prst="rect">
                <a:avLst/>
              </a:prstGeom>
            </p:spPr>
          </p:pic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96811CF1-52EE-24BB-3903-0C4C8FDCA046}"/>
                  </a:ext>
                </a:extLst>
              </p:cNvPr>
              <p:cNvSpPr txBox="1"/>
              <p:nvPr/>
            </p:nvSpPr>
            <p:spPr>
              <a:xfrm>
                <a:off x="4527828" y="5698440"/>
                <a:ext cx="7683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Evidence Block</a:t>
                </a:r>
              </a:p>
            </p:txBody>
          </p:sp>
        </p:grpSp>
        <p:sp>
          <p:nvSpPr>
            <p:cNvPr id="246" name="箭头: 右 245">
              <a:extLst>
                <a:ext uri="{FF2B5EF4-FFF2-40B4-BE49-F238E27FC236}">
                  <a16:creationId xmlns:a16="http://schemas.microsoft.com/office/drawing/2014/main" id="{742A1E53-6631-16A4-A738-5EF992E1CF04}"/>
                </a:ext>
              </a:extLst>
            </p:cNvPr>
            <p:cNvSpPr/>
            <p:nvPr/>
          </p:nvSpPr>
          <p:spPr>
            <a:xfrm>
              <a:off x="5218061" y="5307537"/>
              <a:ext cx="387865" cy="169125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5909C5E8-65C5-A49F-338D-06C1B6D98D51}"/>
                </a:ext>
              </a:extLst>
            </p:cNvPr>
            <p:cNvGrpSpPr/>
            <p:nvPr/>
          </p:nvGrpSpPr>
          <p:grpSpPr>
            <a:xfrm>
              <a:off x="5518118" y="5002686"/>
              <a:ext cx="755794" cy="1101575"/>
              <a:chOff x="5456295" y="5020148"/>
              <a:chExt cx="755794" cy="1101575"/>
            </a:xfrm>
          </p:grpSpPr>
          <p:pic>
            <p:nvPicPr>
              <p:cNvPr id="245" name="图形 244" descr="带齿轮的头部 纯色填充">
                <a:extLst>
                  <a:ext uri="{FF2B5EF4-FFF2-40B4-BE49-F238E27FC236}">
                    <a16:creationId xmlns:a16="http://schemas.microsoft.com/office/drawing/2014/main" id="{A8687F2E-9C6F-613C-E05B-3329866D8F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15884" y="5020148"/>
                <a:ext cx="696205" cy="696205"/>
              </a:xfrm>
              <a:prstGeom prst="rect">
                <a:avLst/>
              </a:prstGeom>
            </p:spPr>
          </p:pic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A3FCCBE7-C4B6-9927-8356-973750B65138}"/>
                  </a:ext>
                </a:extLst>
              </p:cNvPr>
              <p:cNvSpPr txBox="1"/>
              <p:nvPr/>
            </p:nvSpPr>
            <p:spPr>
              <a:xfrm>
                <a:off x="5456295" y="5660058"/>
                <a:ext cx="7202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system prompt</a:t>
                </a:r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9A6DC12A-00EA-5186-9B0A-39013F59ABA5}"/>
                </a:ext>
              </a:extLst>
            </p:cNvPr>
            <p:cNvGrpSpPr/>
            <p:nvPr/>
          </p:nvGrpSpPr>
          <p:grpSpPr>
            <a:xfrm>
              <a:off x="6545402" y="5002686"/>
              <a:ext cx="948974" cy="1157419"/>
              <a:chOff x="6545402" y="5002686"/>
              <a:chExt cx="948974" cy="1157419"/>
            </a:xfrm>
          </p:grpSpPr>
          <p:pic>
            <p:nvPicPr>
              <p:cNvPr id="249" name="图片 248">
                <a:extLst>
                  <a:ext uri="{FF2B5EF4-FFF2-40B4-BE49-F238E27FC236}">
                    <a16:creationId xmlns:a16="http://schemas.microsoft.com/office/drawing/2014/main" id="{6773221E-9EC7-A370-EE8C-34D4504E83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07882" y="5002686"/>
                <a:ext cx="624014" cy="638231"/>
              </a:xfrm>
              <a:prstGeom prst="rect">
                <a:avLst/>
              </a:prstGeom>
            </p:spPr>
          </p:pic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19471E5A-AA34-598C-25E2-43A910C793AE}"/>
                  </a:ext>
                </a:extLst>
              </p:cNvPr>
              <p:cNvSpPr txBox="1"/>
              <p:nvPr/>
            </p:nvSpPr>
            <p:spPr>
              <a:xfrm>
                <a:off x="6545402" y="5698440"/>
                <a:ext cx="9489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Ollama</a:t>
                </a:r>
                <a:b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</a:br>
                <a:r>
                  <a:rPr lang="en-US" altLang="zh-CN" sz="1200" b="1" dirty="0">
                    <a:latin typeface="MV Boli" panose="02000500030200090000" pitchFamily="2" charset="0"/>
                    <a:cs typeface="MV Boli" panose="02000500030200090000" pitchFamily="2" charset="0"/>
                  </a:rPr>
                  <a:t>Processing</a:t>
                </a:r>
                <a:endParaRPr lang="zh-CN" altLang="en-US" sz="1200" b="1" dirty="0">
                  <a:latin typeface="MV Boli" panose="02000500030200090000" pitchFamily="2" charset="0"/>
                  <a:cs typeface="MV Boli" panose="02000500030200090000" pitchFamily="2" charset="0"/>
                </a:endParaRPr>
              </a:p>
            </p:txBody>
          </p:sp>
        </p:grpSp>
        <p:sp>
          <p:nvSpPr>
            <p:cNvPr id="251" name="箭头: 右 250">
              <a:extLst>
                <a:ext uri="{FF2B5EF4-FFF2-40B4-BE49-F238E27FC236}">
                  <a16:creationId xmlns:a16="http://schemas.microsoft.com/office/drawing/2014/main" id="{7031BC21-F3F4-07E5-88CF-9740BC9EB330}"/>
                </a:ext>
              </a:extLst>
            </p:cNvPr>
            <p:cNvSpPr/>
            <p:nvPr/>
          </p:nvSpPr>
          <p:spPr>
            <a:xfrm>
              <a:off x="6254481" y="5311580"/>
              <a:ext cx="387865" cy="169125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箭头: 右 252">
              <a:extLst>
                <a:ext uri="{FF2B5EF4-FFF2-40B4-BE49-F238E27FC236}">
                  <a16:creationId xmlns:a16="http://schemas.microsoft.com/office/drawing/2014/main" id="{1ED0885D-8A1F-7043-FDA0-FF7024130305}"/>
                </a:ext>
              </a:extLst>
            </p:cNvPr>
            <p:cNvSpPr/>
            <p:nvPr/>
          </p:nvSpPr>
          <p:spPr>
            <a:xfrm>
              <a:off x="7404647" y="5317791"/>
              <a:ext cx="387865" cy="169125"/>
            </a:xfrm>
            <a:prstGeom prst="rightArrow">
              <a:avLst>
                <a:gd name="adj1" fmla="val 38514"/>
                <a:gd name="adj2" fmla="val 77629"/>
              </a:avLst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5" name="图形 254" descr="思想气泡 纯色填充">
              <a:extLst>
                <a:ext uri="{FF2B5EF4-FFF2-40B4-BE49-F238E27FC236}">
                  <a16:creationId xmlns:a16="http://schemas.microsoft.com/office/drawing/2014/main" id="{F69F4C69-2E3C-D188-EA2E-F7010E9BD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813174" y="5002686"/>
              <a:ext cx="696205" cy="696205"/>
            </a:xfrm>
            <a:prstGeom prst="rect">
              <a:avLst/>
            </a:prstGeom>
          </p:spPr>
        </p:pic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344AEC6A-7875-E1DE-B6F4-3C655A1646F9}"/>
                </a:ext>
              </a:extLst>
            </p:cNvPr>
            <p:cNvSpPr txBox="1"/>
            <p:nvPr/>
          </p:nvSpPr>
          <p:spPr>
            <a:xfrm>
              <a:off x="7640327" y="5692940"/>
              <a:ext cx="9489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Chatbot response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7ECAB3B2-AE72-2E1D-E24F-6159DC939CE1}"/>
                </a:ext>
              </a:extLst>
            </p:cNvPr>
            <p:cNvSpPr/>
            <p:nvPr/>
          </p:nvSpPr>
          <p:spPr>
            <a:xfrm>
              <a:off x="4591235" y="4597316"/>
              <a:ext cx="240161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b="1" cap="none" spc="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MV Boli" panose="02000500030200090000" pitchFamily="2" charset="0"/>
                  <a:cs typeface="MV Boli" panose="02000500030200090000" pitchFamily="2" charset="0"/>
                </a:rPr>
                <a:t>Answer Generation</a:t>
              </a:r>
              <a:endParaRPr lang="zh-CN" altLang="en-US" sz="2000" b="1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1813937E-E368-2E73-B221-34201EBCCCC6}"/>
              </a:ext>
            </a:extLst>
          </p:cNvPr>
          <p:cNvGrpSpPr/>
          <p:nvPr/>
        </p:nvGrpSpPr>
        <p:grpSpPr>
          <a:xfrm>
            <a:off x="203814" y="2919487"/>
            <a:ext cx="1293461" cy="734881"/>
            <a:chOff x="203814" y="2919487"/>
            <a:chExt cx="1293461" cy="734881"/>
          </a:xfrm>
        </p:grpSpPr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090BA350-C036-F87D-130A-CB98E0F9177F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800429" y="2919487"/>
              <a:ext cx="200707" cy="7348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3AFE39E-A397-AA20-E42A-91EB23350BAF}"/>
                </a:ext>
              </a:extLst>
            </p:cNvPr>
            <p:cNvSpPr txBox="1"/>
            <p:nvPr/>
          </p:nvSpPr>
          <p:spPr>
            <a:xfrm>
              <a:off x="203814" y="3357839"/>
              <a:ext cx="1293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Cleaned Chunks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73D09ADE-DD7B-A21B-5977-C798554DD56F}"/>
              </a:ext>
            </a:extLst>
          </p:cNvPr>
          <p:cNvCxnSpPr>
            <a:cxnSpLocks/>
            <a:stCxn id="2" idx="4"/>
            <a:endCxn id="257" idx="0"/>
          </p:cNvCxnSpPr>
          <p:nvPr/>
        </p:nvCxnSpPr>
        <p:spPr>
          <a:xfrm>
            <a:off x="5430562" y="4304055"/>
            <a:ext cx="493060" cy="37414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5B70794D-DA2A-9F9B-6304-1401F2F209A1}"/>
              </a:ext>
            </a:extLst>
          </p:cNvPr>
          <p:cNvSpPr txBox="1"/>
          <p:nvPr/>
        </p:nvSpPr>
        <p:spPr>
          <a:xfrm>
            <a:off x="5087283" y="4344922"/>
            <a:ext cx="1179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MV Boli" panose="02000500030200090000" pitchFamily="2" charset="0"/>
                <a:cs typeface="MV Boli" panose="02000500030200090000" pitchFamily="2" charset="0"/>
              </a:rPr>
              <a:t>Top-k Chunks</a:t>
            </a:r>
            <a:endParaRPr lang="zh-CN" altLang="en-US" sz="1200" b="1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pSp>
        <p:nvGrpSpPr>
          <p:cNvPr id="301" name="组合 300">
            <a:extLst>
              <a:ext uri="{FF2B5EF4-FFF2-40B4-BE49-F238E27FC236}">
                <a16:creationId xmlns:a16="http://schemas.microsoft.com/office/drawing/2014/main" id="{EB3A69FB-F513-4443-3616-94B467FB5C51}"/>
              </a:ext>
            </a:extLst>
          </p:cNvPr>
          <p:cNvGrpSpPr/>
          <p:nvPr/>
        </p:nvGrpSpPr>
        <p:grpSpPr>
          <a:xfrm>
            <a:off x="6465714" y="3636706"/>
            <a:ext cx="675007" cy="674355"/>
            <a:chOff x="6465714" y="3636706"/>
            <a:chExt cx="675007" cy="674355"/>
          </a:xfrm>
        </p:grpSpPr>
        <p:sp>
          <p:nvSpPr>
            <p:cNvPr id="277" name="流程图: 接点 276">
              <a:extLst>
                <a:ext uri="{FF2B5EF4-FFF2-40B4-BE49-F238E27FC236}">
                  <a16:creationId xmlns:a16="http://schemas.microsoft.com/office/drawing/2014/main" id="{5613C64F-F635-E095-F0E8-71B766D6C2E0}"/>
                </a:ext>
              </a:extLst>
            </p:cNvPr>
            <p:cNvSpPr/>
            <p:nvPr/>
          </p:nvSpPr>
          <p:spPr>
            <a:xfrm>
              <a:off x="6465734" y="3636706"/>
              <a:ext cx="674987" cy="674355"/>
            </a:xfrm>
            <a:prstGeom prst="flowChartConnector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BBF8B7F6-ACA0-7F1C-4167-5B4A67CCE2F9}"/>
                </a:ext>
              </a:extLst>
            </p:cNvPr>
            <p:cNvSpPr txBox="1"/>
            <p:nvPr/>
          </p:nvSpPr>
          <p:spPr>
            <a:xfrm>
              <a:off x="6465714" y="3783995"/>
              <a:ext cx="6495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>
                  <a:latin typeface="MV Boli" panose="02000500030200090000" pitchFamily="2" charset="0"/>
                  <a:cs typeface="MV Boli" panose="02000500030200090000" pitchFamily="2" charset="0"/>
                </a:rPr>
                <a:t>Top-K Chunks</a:t>
              </a:r>
            </a:p>
          </p:txBody>
        </p:sp>
      </p:grpSp>
      <p:cxnSp>
        <p:nvCxnSpPr>
          <p:cNvPr id="279" name="直接箭头连接符 278">
            <a:extLst>
              <a:ext uri="{FF2B5EF4-FFF2-40B4-BE49-F238E27FC236}">
                <a16:creationId xmlns:a16="http://schemas.microsoft.com/office/drawing/2014/main" id="{87099B3F-55D8-4CAF-F7CA-B3CF2913266A}"/>
              </a:ext>
            </a:extLst>
          </p:cNvPr>
          <p:cNvCxnSpPr>
            <a:cxnSpLocks/>
            <a:stCxn id="2" idx="6"/>
            <a:endCxn id="277" idx="2"/>
          </p:cNvCxnSpPr>
          <p:nvPr/>
        </p:nvCxnSpPr>
        <p:spPr>
          <a:xfrm>
            <a:off x="5768055" y="3966878"/>
            <a:ext cx="697679" cy="700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95" name="组合 294">
            <a:extLst>
              <a:ext uri="{FF2B5EF4-FFF2-40B4-BE49-F238E27FC236}">
                <a16:creationId xmlns:a16="http://schemas.microsoft.com/office/drawing/2014/main" id="{F10648AE-31D4-D40E-6EC2-3B2A6A6941F9}"/>
              </a:ext>
            </a:extLst>
          </p:cNvPr>
          <p:cNvGrpSpPr/>
          <p:nvPr/>
        </p:nvGrpSpPr>
        <p:grpSpPr>
          <a:xfrm>
            <a:off x="7985062" y="3407482"/>
            <a:ext cx="965078" cy="1212184"/>
            <a:chOff x="4391056" y="568972"/>
            <a:chExt cx="510712" cy="774086"/>
          </a:xfrm>
        </p:grpSpPr>
        <p:pic>
          <p:nvPicPr>
            <p:cNvPr id="296" name="图形 295" descr="呼叫中心 纯色填充">
              <a:extLst>
                <a:ext uri="{FF2B5EF4-FFF2-40B4-BE49-F238E27FC236}">
                  <a16:creationId xmlns:a16="http://schemas.microsoft.com/office/drawing/2014/main" id="{1CC70A2D-EE93-D4EF-B47F-160F7892F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1056" y="568972"/>
              <a:ext cx="510712" cy="607120"/>
            </a:xfrm>
            <a:prstGeom prst="rect">
              <a:avLst/>
            </a:prstGeom>
          </p:spPr>
        </p:pic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4177B84B-014A-1022-8EF6-0814E10F6C99}"/>
                </a:ext>
              </a:extLst>
            </p:cNvPr>
            <p:cNvSpPr txBox="1"/>
            <p:nvPr/>
          </p:nvSpPr>
          <p:spPr>
            <a:xfrm>
              <a:off x="4400923" y="1125286"/>
              <a:ext cx="478777" cy="217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User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</p:grpSp>
      <p:grpSp>
        <p:nvGrpSpPr>
          <p:cNvPr id="298" name="组合 297">
            <a:extLst>
              <a:ext uri="{FF2B5EF4-FFF2-40B4-BE49-F238E27FC236}">
                <a16:creationId xmlns:a16="http://schemas.microsoft.com/office/drawing/2014/main" id="{CDAC9C38-E594-316F-7E78-97B37D6CD1B8}"/>
              </a:ext>
            </a:extLst>
          </p:cNvPr>
          <p:cNvGrpSpPr/>
          <p:nvPr/>
        </p:nvGrpSpPr>
        <p:grpSpPr>
          <a:xfrm>
            <a:off x="7159366" y="3540308"/>
            <a:ext cx="860442" cy="914400"/>
            <a:chOff x="2473838" y="2271798"/>
            <a:chExt cx="941251" cy="914400"/>
          </a:xfrm>
        </p:grpSpPr>
        <p:sp>
          <p:nvSpPr>
            <p:cNvPr id="299" name="文本框 298">
              <a:extLst>
                <a:ext uri="{FF2B5EF4-FFF2-40B4-BE49-F238E27FC236}">
                  <a16:creationId xmlns:a16="http://schemas.microsoft.com/office/drawing/2014/main" id="{2D1B7085-C426-7749-79F2-E0E96179C550}"/>
                </a:ext>
              </a:extLst>
            </p:cNvPr>
            <p:cNvSpPr txBox="1"/>
            <p:nvPr/>
          </p:nvSpPr>
          <p:spPr>
            <a:xfrm>
              <a:off x="2473838" y="2453853"/>
              <a:ext cx="7991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MV Boli" panose="02000500030200090000" pitchFamily="2" charset="0"/>
                  <a:cs typeface="MV Boli" panose="02000500030200090000" pitchFamily="2" charset="0"/>
                </a:rPr>
                <a:t>Answer</a:t>
              </a:r>
              <a:endParaRPr lang="zh-CN" altLang="en-US" sz="1200" b="1" dirty="0">
                <a:latin typeface="MV Boli" panose="02000500030200090000" pitchFamily="2" charset="0"/>
                <a:cs typeface="MV Boli" panose="02000500030200090000" pitchFamily="2" charset="0"/>
              </a:endParaRPr>
            </a:p>
          </p:txBody>
        </p:sp>
        <p:pic>
          <p:nvPicPr>
            <p:cNvPr id="300" name="图形 299" descr="线箭头: 直 纯色填充">
              <a:extLst>
                <a:ext uri="{FF2B5EF4-FFF2-40B4-BE49-F238E27FC236}">
                  <a16:creationId xmlns:a16="http://schemas.microsoft.com/office/drawing/2014/main" id="{EC9F87BF-8C51-7C2F-663E-F0C214831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H="1">
              <a:off x="2500689" y="2271798"/>
              <a:ext cx="914400" cy="914400"/>
            </a:xfrm>
            <a:prstGeom prst="rect">
              <a:avLst/>
            </a:prstGeom>
          </p:spPr>
        </p:pic>
      </p:grp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6C9667A6-E47F-90FB-E3D3-A4E3DDF3EE4A}"/>
              </a:ext>
            </a:extLst>
          </p:cNvPr>
          <p:cNvCxnSpPr>
            <a:cxnSpLocks/>
            <a:stCxn id="277" idx="4"/>
            <a:endCxn id="237" idx="0"/>
          </p:cNvCxnSpPr>
          <p:nvPr/>
        </p:nvCxnSpPr>
        <p:spPr>
          <a:xfrm flipH="1">
            <a:off x="6662535" y="4311061"/>
            <a:ext cx="140693" cy="31641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97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855</TotalTime>
  <Words>193</Words>
  <Application>Microsoft Office PowerPoint</Application>
  <PresentationFormat>全屏显示(4:3)</PresentationFormat>
  <Paragraphs>83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MV Boli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Guanlin Li</dc:creator>
  <cp:lastModifiedBy>Guanlin Li</cp:lastModifiedBy>
  <cp:revision>16</cp:revision>
  <dcterms:created xsi:type="dcterms:W3CDTF">2025-11-09T07:50:21Z</dcterms:created>
  <dcterms:modified xsi:type="dcterms:W3CDTF">2025-11-12T17:53:35Z</dcterms:modified>
</cp:coreProperties>
</file>